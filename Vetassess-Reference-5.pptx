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4588" r:id="rId2"/>
    <p:sldId id="4799" r:id="rId3"/>
    <p:sldId id="4801" r:id="rId4"/>
    <p:sldId id="4803" r:id="rId5"/>
    <p:sldId id="4800" r:id="rId6"/>
    <p:sldId id="4802" r:id="rId7"/>
    <p:sldId id="4804" r:id="rId8"/>
    <p:sldId id="4805" r:id="rId9"/>
    <p:sldId id="4806" r:id="rId10"/>
    <p:sldId id="4807" r:id="rId11"/>
    <p:sldId id="4808" r:id="rId12"/>
    <p:sldId id="4809" r:id="rId13"/>
    <p:sldId id="4765" r:id="rId14"/>
    <p:sldId id="4776" r:id="rId15"/>
    <p:sldId id="4766"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CC33"/>
    <a:srgbClr val="4F81BD"/>
    <a:srgbClr val="FF3399"/>
    <a:srgbClr val="FFFFFF"/>
    <a:srgbClr val="FF7D7D"/>
    <a:srgbClr val="FF99CC"/>
    <a:srgbClr val="CDC800"/>
    <a:srgbClr val="6584AB"/>
    <a:srgbClr val="4F7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67" autoAdjust="0"/>
    <p:restoredTop sz="94039" autoAdjust="0"/>
  </p:normalViewPr>
  <p:slideViewPr>
    <p:cSldViewPr snapToGrid="0">
      <p:cViewPr varScale="1">
        <p:scale>
          <a:sx n="86" d="100"/>
          <a:sy n="86" d="100"/>
        </p:scale>
        <p:origin x="678" y="96"/>
      </p:cViewPr>
      <p:guideLst>
        <p:guide orient="horz" pos="2160"/>
        <p:guide pos="2880"/>
      </p:guideLst>
    </p:cSldViewPr>
  </p:slideViewPr>
  <p:notesTextViewPr>
    <p:cViewPr>
      <p:scale>
        <a:sx n="3" d="2"/>
        <a:sy n="3" d="2"/>
      </p:scale>
      <p:origin x="0" y="0"/>
    </p:cViewPr>
  </p:notesTextViewPr>
  <p:sorterViewPr>
    <p:cViewPr>
      <p:scale>
        <a:sx n="100" d="100"/>
        <a:sy n="100" d="100"/>
      </p:scale>
      <p:origin x="0" y="-7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2CCF7A-B821-4EF0-BAD1-8241971199FC}" type="datetimeFigureOut">
              <a:rPr lang="zh-TW" altLang="en-US" smtClean="0"/>
              <a:t>2026/9/10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F1C537-0170-4352-BA00-557B1443DEB2}" type="slidenum">
              <a:rPr lang="zh-TW" altLang="en-US" smtClean="0"/>
              <a:t>‹#›</a:t>
            </a:fld>
            <a:endParaRPr lang="zh-TW" altLang="en-US"/>
          </a:p>
        </p:txBody>
      </p:sp>
    </p:spTree>
    <p:extLst>
      <p:ext uri="{BB962C8B-B14F-4D97-AF65-F5344CB8AC3E}">
        <p14:creationId xmlns:p14="http://schemas.microsoft.com/office/powerpoint/2010/main" val="2862135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0D08A-581F-CE76-A02E-58768626C9A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BF6715B-E2AC-5EC6-7B5E-09360D8A987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440596F-89E2-5B67-FA21-FED2DE85C6D7}"/>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17476CE7-C428-25B4-A665-725AEF475A99}"/>
              </a:ext>
            </a:extLst>
          </p:cNvPr>
          <p:cNvSpPr>
            <a:spLocks noGrp="1"/>
          </p:cNvSpPr>
          <p:nvPr>
            <p:ph type="sldNum" sz="quarter" idx="5"/>
          </p:nvPr>
        </p:nvSpPr>
        <p:spPr/>
        <p:txBody>
          <a:bodyPr/>
          <a:lstStyle/>
          <a:p>
            <a:fld id="{45F1C537-0170-4352-BA00-557B1443DEB2}" type="slidenum">
              <a:rPr lang="zh-TW" altLang="en-US" smtClean="0"/>
              <a:t>3</a:t>
            </a:fld>
            <a:endParaRPr lang="zh-TW" altLang="en-US"/>
          </a:p>
        </p:txBody>
      </p:sp>
    </p:spTree>
    <p:extLst>
      <p:ext uri="{BB962C8B-B14F-4D97-AF65-F5344CB8AC3E}">
        <p14:creationId xmlns:p14="http://schemas.microsoft.com/office/powerpoint/2010/main" val="4113782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8D569-35D7-B6FC-5324-0E0A82C0378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56BDF4C-37A8-ACF9-97A4-F4F5F6A3A24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2F98065-7E29-3219-345D-E88E8B9BE224}"/>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780370DC-8EC8-28D7-24AB-640732B4FF9A}"/>
              </a:ext>
            </a:extLst>
          </p:cNvPr>
          <p:cNvSpPr>
            <a:spLocks noGrp="1"/>
          </p:cNvSpPr>
          <p:nvPr>
            <p:ph type="sldNum" sz="quarter" idx="5"/>
          </p:nvPr>
        </p:nvSpPr>
        <p:spPr/>
        <p:txBody>
          <a:bodyPr/>
          <a:lstStyle/>
          <a:p>
            <a:fld id="{45F1C537-0170-4352-BA00-557B1443DEB2}" type="slidenum">
              <a:rPr lang="zh-TW" altLang="en-US" smtClean="0"/>
              <a:t>4</a:t>
            </a:fld>
            <a:endParaRPr lang="zh-TW" altLang="en-US"/>
          </a:p>
        </p:txBody>
      </p:sp>
    </p:spTree>
    <p:extLst>
      <p:ext uri="{BB962C8B-B14F-4D97-AF65-F5344CB8AC3E}">
        <p14:creationId xmlns:p14="http://schemas.microsoft.com/office/powerpoint/2010/main" val="3417158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ACA44-1FBA-AF5C-53AB-7EAEF117CF3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97F98D7-6942-FB0E-0140-253CAE79631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76DB67C-3927-C66F-80DD-E5FBA6556E8D}"/>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D636CB50-946E-1140-71B1-FECCD976F51C}"/>
              </a:ext>
            </a:extLst>
          </p:cNvPr>
          <p:cNvSpPr>
            <a:spLocks noGrp="1"/>
          </p:cNvSpPr>
          <p:nvPr>
            <p:ph type="sldNum" sz="quarter" idx="5"/>
          </p:nvPr>
        </p:nvSpPr>
        <p:spPr/>
        <p:txBody>
          <a:bodyPr/>
          <a:lstStyle/>
          <a:p>
            <a:fld id="{45F1C537-0170-4352-BA00-557B1443DEB2}" type="slidenum">
              <a:rPr lang="zh-TW" altLang="en-US" smtClean="0"/>
              <a:t>5</a:t>
            </a:fld>
            <a:endParaRPr lang="zh-TW" altLang="en-US"/>
          </a:p>
        </p:txBody>
      </p:sp>
    </p:spTree>
    <p:extLst>
      <p:ext uri="{BB962C8B-B14F-4D97-AF65-F5344CB8AC3E}">
        <p14:creationId xmlns:p14="http://schemas.microsoft.com/office/powerpoint/2010/main" val="1218603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C8648-FD5A-0C73-FDF4-4BDE2CE33D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88C2D5E-9F29-D195-4B51-B5586E34B87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3137E5B-2526-EEC2-60C2-DE795DB710C5}"/>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3FAD5E01-31AD-F0A0-F847-2437E04A289E}"/>
              </a:ext>
            </a:extLst>
          </p:cNvPr>
          <p:cNvSpPr>
            <a:spLocks noGrp="1"/>
          </p:cNvSpPr>
          <p:nvPr>
            <p:ph type="sldNum" sz="quarter" idx="5"/>
          </p:nvPr>
        </p:nvSpPr>
        <p:spPr/>
        <p:txBody>
          <a:bodyPr/>
          <a:lstStyle/>
          <a:p>
            <a:fld id="{45F1C537-0170-4352-BA00-557B1443DEB2}" type="slidenum">
              <a:rPr lang="zh-TW" altLang="en-US" smtClean="0"/>
              <a:t>6</a:t>
            </a:fld>
            <a:endParaRPr lang="zh-TW" altLang="en-US"/>
          </a:p>
        </p:txBody>
      </p:sp>
    </p:spTree>
    <p:extLst>
      <p:ext uri="{BB962C8B-B14F-4D97-AF65-F5344CB8AC3E}">
        <p14:creationId xmlns:p14="http://schemas.microsoft.com/office/powerpoint/2010/main" val="3279563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B7A16-C7D0-E940-2300-1C696207B59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091DDDF-549B-900F-0141-3FAF43AEBA2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CA00347-72D6-5E00-306C-49778D0F4D18}"/>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F8F6CE58-4815-6ED9-B263-1B3CE9165EEE}"/>
              </a:ext>
            </a:extLst>
          </p:cNvPr>
          <p:cNvSpPr>
            <a:spLocks noGrp="1"/>
          </p:cNvSpPr>
          <p:nvPr>
            <p:ph type="sldNum" sz="quarter" idx="5"/>
          </p:nvPr>
        </p:nvSpPr>
        <p:spPr/>
        <p:txBody>
          <a:bodyPr/>
          <a:lstStyle/>
          <a:p>
            <a:fld id="{45F1C537-0170-4352-BA00-557B1443DEB2}" type="slidenum">
              <a:rPr lang="zh-TW" altLang="en-US" smtClean="0"/>
              <a:t>8</a:t>
            </a:fld>
            <a:endParaRPr lang="zh-TW" altLang="en-US"/>
          </a:p>
        </p:txBody>
      </p:sp>
    </p:spTree>
    <p:extLst>
      <p:ext uri="{BB962C8B-B14F-4D97-AF65-F5344CB8AC3E}">
        <p14:creationId xmlns:p14="http://schemas.microsoft.com/office/powerpoint/2010/main" val="3051509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B043D-DB8F-98C8-AF63-1B456D8916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A8A9374-56B1-4682-4A3B-6AD3B0F4736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8BB0F7D-4D46-2110-8A31-90C787870A1C}"/>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7C5729CB-21ED-4861-E6F4-34EBF664220E}"/>
              </a:ext>
            </a:extLst>
          </p:cNvPr>
          <p:cNvSpPr>
            <a:spLocks noGrp="1"/>
          </p:cNvSpPr>
          <p:nvPr>
            <p:ph type="sldNum" sz="quarter" idx="5"/>
          </p:nvPr>
        </p:nvSpPr>
        <p:spPr/>
        <p:txBody>
          <a:bodyPr/>
          <a:lstStyle/>
          <a:p>
            <a:fld id="{45F1C537-0170-4352-BA00-557B1443DEB2}" type="slidenum">
              <a:rPr lang="zh-TW" altLang="en-US" smtClean="0"/>
              <a:t>9</a:t>
            </a:fld>
            <a:endParaRPr lang="zh-TW" altLang="en-US"/>
          </a:p>
        </p:txBody>
      </p:sp>
    </p:spTree>
    <p:extLst>
      <p:ext uri="{BB962C8B-B14F-4D97-AF65-F5344CB8AC3E}">
        <p14:creationId xmlns:p14="http://schemas.microsoft.com/office/powerpoint/2010/main" val="3963505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37065-9B64-9933-50C0-AC21A568512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DC31F57-C9CC-A321-9644-369451D5DEA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0774FCE-1E19-88BC-8167-CDCB731E201F}"/>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721C7E03-0A02-DE36-A745-D5E6847AF127}"/>
              </a:ext>
            </a:extLst>
          </p:cNvPr>
          <p:cNvSpPr>
            <a:spLocks noGrp="1"/>
          </p:cNvSpPr>
          <p:nvPr>
            <p:ph type="sldNum" sz="quarter" idx="5"/>
          </p:nvPr>
        </p:nvSpPr>
        <p:spPr/>
        <p:txBody>
          <a:bodyPr/>
          <a:lstStyle/>
          <a:p>
            <a:fld id="{45F1C537-0170-4352-BA00-557B1443DEB2}" type="slidenum">
              <a:rPr lang="zh-TW" altLang="en-US" smtClean="0"/>
              <a:t>10</a:t>
            </a:fld>
            <a:endParaRPr lang="zh-TW" altLang="en-US"/>
          </a:p>
        </p:txBody>
      </p:sp>
    </p:spTree>
    <p:extLst>
      <p:ext uri="{BB962C8B-B14F-4D97-AF65-F5344CB8AC3E}">
        <p14:creationId xmlns:p14="http://schemas.microsoft.com/office/powerpoint/2010/main" val="2293007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A46BA-B51E-F9ED-62E9-5340B7DAE41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385F63A-DE59-2138-8039-3C921FA41C8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35D6DAC-3729-E795-408D-D7A625F042AE}"/>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34E6203A-4137-F7D8-FF54-DD1698B81E56}"/>
              </a:ext>
            </a:extLst>
          </p:cNvPr>
          <p:cNvSpPr>
            <a:spLocks noGrp="1"/>
          </p:cNvSpPr>
          <p:nvPr>
            <p:ph type="sldNum" sz="quarter" idx="5"/>
          </p:nvPr>
        </p:nvSpPr>
        <p:spPr/>
        <p:txBody>
          <a:bodyPr/>
          <a:lstStyle/>
          <a:p>
            <a:fld id="{45F1C537-0170-4352-BA00-557B1443DEB2}" type="slidenum">
              <a:rPr lang="zh-TW" altLang="en-US" smtClean="0"/>
              <a:t>11</a:t>
            </a:fld>
            <a:endParaRPr lang="zh-TW" altLang="en-US"/>
          </a:p>
        </p:txBody>
      </p:sp>
    </p:spTree>
    <p:extLst>
      <p:ext uri="{BB962C8B-B14F-4D97-AF65-F5344CB8AC3E}">
        <p14:creationId xmlns:p14="http://schemas.microsoft.com/office/powerpoint/2010/main" val="3211909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968FF-BD23-880D-D471-2C03FEFB0CE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1F6699E-DCF2-F794-FA44-3FD74C3C277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0A8713C-C206-D266-5797-A5DF267519AC}"/>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893C25E7-FF02-FBDC-7999-29FAACEA0DEB}"/>
              </a:ext>
            </a:extLst>
          </p:cNvPr>
          <p:cNvSpPr>
            <a:spLocks noGrp="1"/>
          </p:cNvSpPr>
          <p:nvPr>
            <p:ph type="sldNum" sz="quarter" idx="5"/>
          </p:nvPr>
        </p:nvSpPr>
        <p:spPr/>
        <p:txBody>
          <a:bodyPr/>
          <a:lstStyle/>
          <a:p>
            <a:fld id="{45F1C537-0170-4352-BA00-557B1443DEB2}" type="slidenum">
              <a:rPr lang="zh-TW" altLang="en-US" smtClean="0"/>
              <a:t>12</a:t>
            </a:fld>
            <a:endParaRPr lang="zh-TW" altLang="en-US"/>
          </a:p>
        </p:txBody>
      </p:sp>
    </p:spTree>
    <p:extLst>
      <p:ext uri="{BB962C8B-B14F-4D97-AF65-F5344CB8AC3E}">
        <p14:creationId xmlns:p14="http://schemas.microsoft.com/office/powerpoint/2010/main" val="2659608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A4471-3A58-B8A9-FF7B-D9CACAB68FF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A595898-0B99-A45B-F6C3-B2F8C4B9026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5409FAB-94E4-F191-2B2C-F377E99F69A0}"/>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78073E91-AC24-BA56-72A3-CA4D044E9D5E}"/>
              </a:ext>
            </a:extLst>
          </p:cNvPr>
          <p:cNvSpPr>
            <a:spLocks noGrp="1"/>
          </p:cNvSpPr>
          <p:nvPr>
            <p:ph type="sldNum" sz="quarter" idx="5"/>
          </p:nvPr>
        </p:nvSpPr>
        <p:spPr/>
        <p:txBody>
          <a:bodyPr/>
          <a:lstStyle/>
          <a:p>
            <a:fld id="{45F1C537-0170-4352-BA00-557B1443DEB2}" type="slidenum">
              <a:rPr lang="zh-TW" altLang="en-US" smtClean="0"/>
              <a:t>13</a:t>
            </a:fld>
            <a:endParaRPr lang="zh-TW" altLang="en-US"/>
          </a:p>
        </p:txBody>
      </p:sp>
    </p:spTree>
    <p:extLst>
      <p:ext uri="{BB962C8B-B14F-4D97-AF65-F5344CB8AC3E}">
        <p14:creationId xmlns:p14="http://schemas.microsoft.com/office/powerpoint/2010/main" val="33711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852CE-5121-55EA-D7B0-BC8E82E13C9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1C97C07-39D3-0CD0-839E-4479440387F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A700FCA-91DA-12FF-EB3B-A3BE4E856B57}"/>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59C7BC70-79CD-D37F-537F-080A447DB8AD}"/>
              </a:ext>
            </a:extLst>
          </p:cNvPr>
          <p:cNvSpPr>
            <a:spLocks noGrp="1"/>
          </p:cNvSpPr>
          <p:nvPr>
            <p:ph type="sldNum" sz="quarter" idx="5"/>
          </p:nvPr>
        </p:nvSpPr>
        <p:spPr/>
        <p:txBody>
          <a:bodyPr/>
          <a:lstStyle/>
          <a:p>
            <a:fld id="{45F1C537-0170-4352-BA00-557B1443DEB2}" type="slidenum">
              <a:rPr lang="zh-TW" altLang="en-US" smtClean="0"/>
              <a:t>14</a:t>
            </a:fld>
            <a:endParaRPr lang="zh-TW" altLang="en-US"/>
          </a:p>
        </p:txBody>
      </p:sp>
    </p:spTree>
    <p:extLst>
      <p:ext uri="{BB962C8B-B14F-4D97-AF65-F5344CB8AC3E}">
        <p14:creationId xmlns:p14="http://schemas.microsoft.com/office/powerpoint/2010/main" val="395275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ED3D8-6715-ACAB-F443-7FA11BA4A3D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36AEEEC-1621-820F-D655-E7B4B984DF8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59A1F65-E3A6-20E5-959C-71F8639DBD16}"/>
              </a:ext>
            </a:extLst>
          </p:cNvPr>
          <p:cNvSpPr>
            <a:spLocks noGrp="1"/>
          </p:cNvSpPr>
          <p:nvPr>
            <p:ph type="body" idx="1"/>
          </p:nvPr>
        </p:nvSpPr>
        <p:spPr/>
        <p:txBody>
          <a:bodyPr/>
          <a:lstStyle/>
          <a:p>
            <a:pPr marL="0" indent="0">
              <a:buNone/>
            </a:pPr>
            <a:endParaRPr lang="zh-TW" altLang="en-US" sz="1000" dirty="0"/>
          </a:p>
        </p:txBody>
      </p:sp>
      <p:sp>
        <p:nvSpPr>
          <p:cNvPr id="4" name="投影片編號版面配置區 3">
            <a:extLst>
              <a:ext uri="{FF2B5EF4-FFF2-40B4-BE49-F238E27FC236}">
                <a16:creationId xmlns:a16="http://schemas.microsoft.com/office/drawing/2014/main" id="{D73F522B-C0E2-CF2B-8595-256BEA419C90}"/>
              </a:ext>
            </a:extLst>
          </p:cNvPr>
          <p:cNvSpPr>
            <a:spLocks noGrp="1"/>
          </p:cNvSpPr>
          <p:nvPr>
            <p:ph type="sldNum" sz="quarter" idx="5"/>
          </p:nvPr>
        </p:nvSpPr>
        <p:spPr/>
        <p:txBody>
          <a:bodyPr/>
          <a:lstStyle/>
          <a:p>
            <a:fld id="{45F1C537-0170-4352-BA00-557B1443DEB2}" type="slidenum">
              <a:rPr lang="zh-TW" altLang="en-US" smtClean="0"/>
              <a:t>15</a:t>
            </a:fld>
            <a:endParaRPr lang="zh-TW" altLang="en-US"/>
          </a:p>
        </p:txBody>
      </p:sp>
    </p:spTree>
    <p:extLst>
      <p:ext uri="{BB962C8B-B14F-4D97-AF65-F5344CB8AC3E}">
        <p14:creationId xmlns:p14="http://schemas.microsoft.com/office/powerpoint/2010/main" val="34193049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8BC4582E-C62F-4A33-944E-FC5B8C1855A9}"/>
              </a:ext>
            </a:extLst>
          </p:cNvPr>
          <p:cNvSpPr/>
          <p:nvPr/>
        </p:nvSpPr>
        <p:spPr>
          <a:xfrm>
            <a:off x="0" y="0"/>
            <a:ext cx="9144000" cy="126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標題 1"/>
          <p:cNvSpPr>
            <a:spLocks noGrp="1"/>
          </p:cNvSpPr>
          <p:nvPr>
            <p:ph type="ctrTitle"/>
          </p:nvPr>
        </p:nvSpPr>
        <p:spPr>
          <a:xfrm>
            <a:off x="685800" y="2130425"/>
            <a:ext cx="7772400" cy="1470025"/>
          </a:xfrm>
        </p:spPr>
        <p:txBody>
          <a:bodyPr>
            <a:normAutofit/>
          </a:bodyPr>
          <a:lstStyle>
            <a:lvl1pPr algn="ctr">
              <a:defRPr sz="2800" b="1"/>
            </a:lvl1pPr>
          </a:lstStyle>
          <a:p>
            <a:r>
              <a:rPr lang="zh-TW" altLang="en-US"/>
              <a:t>按一下以編輯母片標題樣式</a:t>
            </a:r>
            <a:endParaRPr lang="zh-TW" altLang="en-US" dirty="0"/>
          </a:p>
        </p:txBody>
      </p:sp>
      <p:sp>
        <p:nvSpPr>
          <p:cNvPr id="7"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p>
        </p:txBody>
      </p:sp>
      <p:pic>
        <p:nvPicPr>
          <p:cNvPr id="9" name="圖片 8">
            <a:extLst>
              <a:ext uri="{FF2B5EF4-FFF2-40B4-BE49-F238E27FC236}">
                <a16:creationId xmlns:a16="http://schemas.microsoft.com/office/drawing/2014/main" id="{AB9D5605-41D4-4B73-BB13-6E949718EC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9264" y="307974"/>
            <a:ext cx="3636912" cy="785112"/>
          </a:xfrm>
          <a:prstGeom prst="rect">
            <a:avLst/>
          </a:prstGeom>
        </p:spPr>
      </p:pic>
      <p:sp>
        <p:nvSpPr>
          <p:cNvPr id="8" name="頁尾版面配置區 4">
            <a:extLst>
              <a:ext uri="{FF2B5EF4-FFF2-40B4-BE49-F238E27FC236}">
                <a16:creationId xmlns:a16="http://schemas.microsoft.com/office/drawing/2014/main" id="{87055132-9189-4530-8F31-1C2CABFBD182}"/>
              </a:ext>
            </a:extLst>
          </p:cNvPr>
          <p:cNvSpPr>
            <a:spLocks noGrp="1"/>
          </p:cNvSpPr>
          <p:nvPr>
            <p:ph type="ftr" sz="quarter" idx="3"/>
          </p:nvPr>
        </p:nvSpPr>
        <p:spPr>
          <a:xfrm>
            <a:off x="1043608" y="6309320"/>
            <a:ext cx="7056784" cy="548680"/>
          </a:xfrm>
          <a:prstGeom prst="rect">
            <a:avLst/>
          </a:prstGeom>
        </p:spPr>
        <p:txBody>
          <a:bodyPr vert="horz" lIns="91440" tIns="45720" rIns="91440" bIns="45720" rtlCol="0" anchor="ctr"/>
          <a:lstStyle>
            <a:lvl1pPr algn="ctr">
              <a:defRPr sz="1100" b="1">
                <a:solidFill>
                  <a:srgbClr val="336600"/>
                </a:solidFill>
              </a:defRPr>
            </a:lvl1p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Tree>
    <p:extLst>
      <p:ext uri="{BB962C8B-B14F-4D97-AF65-F5344CB8AC3E}">
        <p14:creationId xmlns:p14="http://schemas.microsoft.com/office/powerpoint/2010/main" val="3589403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ne column">
    <p:spTree>
      <p:nvGrpSpPr>
        <p:cNvPr id="1" name=""/>
        <p:cNvGrpSpPr/>
        <p:nvPr/>
      </p:nvGrpSpPr>
      <p:grpSpPr>
        <a:xfrm>
          <a:off x="0" y="0"/>
          <a:ext cx="0" cy="0"/>
          <a:chOff x="0" y="0"/>
          <a:chExt cx="0" cy="0"/>
        </a:xfrm>
      </p:grpSpPr>
      <p:sp>
        <p:nvSpPr>
          <p:cNvPr id="2" name="標題 1"/>
          <p:cNvSpPr>
            <a:spLocks noGrp="1"/>
          </p:cNvSpPr>
          <p:nvPr>
            <p:ph type="title"/>
          </p:nvPr>
        </p:nvSpPr>
        <p:spPr>
          <a:xfrm>
            <a:off x="457200" y="229974"/>
            <a:ext cx="5194800" cy="850106"/>
          </a:xfrm>
        </p:spPr>
        <p:txBody>
          <a:bodyPr/>
          <a:lstStyle>
            <a:lvl1pPr>
              <a:defRPr/>
            </a:lvl1pPr>
          </a:lstStyle>
          <a:p>
            <a:r>
              <a:rPr lang="zh-TW" altLang="en-US"/>
              <a:t>按一下以編輯母片標題樣式</a:t>
            </a:r>
            <a:endParaRPr lang="zh-TW" altLang="en-US" dirty="0"/>
          </a:p>
        </p:txBody>
      </p:sp>
      <p:sp>
        <p:nvSpPr>
          <p:cNvPr id="10" name="內容版面配置區 9"/>
          <p:cNvSpPr>
            <a:spLocks noGrp="1"/>
          </p:cNvSpPr>
          <p:nvPr>
            <p:ph sz="quarter" idx="13"/>
          </p:nvPr>
        </p:nvSpPr>
        <p:spPr>
          <a:xfrm>
            <a:off x="457200" y="1124743"/>
            <a:ext cx="8229600" cy="5126941"/>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12" name="頁尾版面配置區 4">
            <a:extLst>
              <a:ext uri="{FF2B5EF4-FFF2-40B4-BE49-F238E27FC236}">
                <a16:creationId xmlns:a16="http://schemas.microsoft.com/office/drawing/2014/main" id="{9B06DF79-60D2-4510-A897-D02FE1B71CB3}"/>
              </a:ext>
            </a:extLst>
          </p:cNvPr>
          <p:cNvSpPr txBox="1">
            <a:spLocks/>
          </p:cNvSpPr>
          <p:nvPr/>
        </p:nvSpPr>
        <p:spPr>
          <a:xfrm>
            <a:off x="0" y="6314565"/>
            <a:ext cx="9144000" cy="548680"/>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
        <p:nvSpPr>
          <p:cNvPr id="8" name="頁尾版面配置區 4">
            <a:extLst>
              <a:ext uri="{FF2B5EF4-FFF2-40B4-BE49-F238E27FC236}">
                <a16:creationId xmlns:a16="http://schemas.microsoft.com/office/drawing/2014/main" id="{AEBE7A0E-2632-45DA-B965-25DB98E056B8}"/>
              </a:ext>
            </a:extLst>
          </p:cNvPr>
          <p:cNvSpPr>
            <a:spLocks noGrp="1"/>
          </p:cNvSpPr>
          <p:nvPr>
            <p:ph type="ftr" sz="quarter" idx="3"/>
          </p:nvPr>
        </p:nvSpPr>
        <p:spPr>
          <a:xfrm>
            <a:off x="1043608" y="6309320"/>
            <a:ext cx="7056784" cy="548680"/>
          </a:xfrm>
          <a:prstGeom prst="rect">
            <a:avLst/>
          </a:prstGeom>
        </p:spPr>
        <p:txBody>
          <a:bodyPr vert="horz" lIns="91440" tIns="45720" rIns="91440" bIns="45720" rtlCol="0" anchor="ctr"/>
          <a:lstStyle>
            <a:lvl1pPr algn="ctr">
              <a:defRPr sz="1100" b="1">
                <a:solidFill>
                  <a:srgbClr val="336600"/>
                </a:solidFill>
              </a:defRPr>
            </a:lvl1p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1" name="日期版面配置區 3">
            <a:extLst>
              <a:ext uri="{FF2B5EF4-FFF2-40B4-BE49-F238E27FC236}">
                <a16:creationId xmlns:a16="http://schemas.microsoft.com/office/drawing/2014/main" id="{F97F4362-DD26-41DB-91C9-B7F4CAFC7EC7}"/>
              </a:ext>
            </a:extLst>
          </p:cNvPr>
          <p:cNvSpPr>
            <a:spLocks noGrp="1"/>
          </p:cNvSpPr>
          <p:nvPr>
            <p:ph type="dt" sz="half" idx="2"/>
          </p:nvPr>
        </p:nvSpPr>
        <p:spPr>
          <a:xfrm>
            <a:off x="0" y="6580800"/>
            <a:ext cx="971600" cy="277200"/>
          </a:xfrm>
          <a:prstGeom prst="rect">
            <a:avLst/>
          </a:prstGeom>
        </p:spPr>
        <p:txBody>
          <a:bodyPr vert="horz" lIns="91440" tIns="45720" rIns="91440" bIns="45720" rtlCol="0" anchor="ctr"/>
          <a:lstStyle>
            <a:lvl1pPr algn="l">
              <a:defRPr sz="1200">
                <a:solidFill>
                  <a:srgbClr val="336600"/>
                </a:solidFill>
              </a:defRPr>
            </a:lvl1pPr>
          </a:lstStyle>
          <a:p>
            <a:fld id="{AE8C5876-40B1-41D2-B59C-CAFD7342C27E}" type="datetime1">
              <a:rPr lang="zh-TW" altLang="en-US" smtClean="0"/>
              <a:pPr/>
              <a:t>2026/9/10</a:t>
            </a:fld>
            <a:endParaRPr lang="zh-TW" altLang="en-US" dirty="0"/>
          </a:p>
        </p:txBody>
      </p:sp>
      <p:sp>
        <p:nvSpPr>
          <p:cNvPr id="16" name="投影片編號版面配置區 5">
            <a:extLst>
              <a:ext uri="{FF2B5EF4-FFF2-40B4-BE49-F238E27FC236}">
                <a16:creationId xmlns:a16="http://schemas.microsoft.com/office/drawing/2014/main" id="{51F51D95-0864-4DBE-86B8-75148D5C93BD}"/>
              </a:ext>
            </a:extLst>
          </p:cNvPr>
          <p:cNvSpPr>
            <a:spLocks noGrp="1"/>
          </p:cNvSpPr>
          <p:nvPr>
            <p:ph type="sldNum" sz="quarter" idx="4"/>
          </p:nvPr>
        </p:nvSpPr>
        <p:spPr>
          <a:xfrm>
            <a:off x="8686800" y="6580800"/>
            <a:ext cx="457200" cy="277200"/>
          </a:xfrm>
          <a:prstGeom prst="rect">
            <a:avLst/>
          </a:prstGeom>
        </p:spPr>
        <p:txBody>
          <a:bodyPr vert="horz" lIns="91440" tIns="45720" rIns="90000" bIns="45720" rtlCol="0" anchor="ctr"/>
          <a:lstStyle>
            <a:lvl1pPr algn="r">
              <a:defRPr sz="1200">
                <a:solidFill>
                  <a:srgbClr val="336600"/>
                </a:solidFill>
              </a:defRPr>
            </a:lvl1pPr>
          </a:lstStyle>
          <a:p>
            <a:fld id="{73DA0BB7-265A-403C-9275-D587AB510EDC}" type="slidenum">
              <a:rPr lang="zh-TW" altLang="en-US" smtClean="0"/>
              <a:pPr/>
              <a:t>‹#›</a:t>
            </a:fld>
            <a:endParaRPr lang="zh-TW" altLang="en-US" dirty="0"/>
          </a:p>
        </p:txBody>
      </p:sp>
    </p:spTree>
    <p:extLst>
      <p:ext uri="{BB962C8B-B14F-4D97-AF65-F5344CB8AC3E}">
        <p14:creationId xmlns:p14="http://schemas.microsoft.com/office/powerpoint/2010/main" val="2798709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標題 1"/>
          <p:cNvSpPr>
            <a:spLocks noGrp="1"/>
          </p:cNvSpPr>
          <p:nvPr>
            <p:ph type="title"/>
          </p:nvPr>
        </p:nvSpPr>
        <p:spPr>
          <a:xfrm>
            <a:off x="457200" y="229974"/>
            <a:ext cx="5194800" cy="850106"/>
          </a:xfrm>
        </p:spPr>
        <p:txBody>
          <a:bodyPr/>
          <a:lstStyle/>
          <a:p>
            <a:r>
              <a:rPr lang="zh-TW" altLang="en-US"/>
              <a:t>按一下以編輯母片標題樣式</a:t>
            </a:r>
            <a:endParaRPr lang="zh-TW" altLang="en-US" dirty="0"/>
          </a:p>
        </p:txBody>
      </p:sp>
      <p:sp>
        <p:nvSpPr>
          <p:cNvPr id="10" name="內容版面配置區 9"/>
          <p:cNvSpPr>
            <a:spLocks noGrp="1"/>
          </p:cNvSpPr>
          <p:nvPr>
            <p:ph sz="quarter" idx="13"/>
          </p:nvPr>
        </p:nvSpPr>
        <p:spPr>
          <a:xfrm>
            <a:off x="457200" y="1124743"/>
            <a:ext cx="4104000" cy="5126949"/>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9"/>
          <p:cNvSpPr>
            <a:spLocks noGrp="1"/>
          </p:cNvSpPr>
          <p:nvPr>
            <p:ph sz="quarter" idx="14"/>
          </p:nvPr>
        </p:nvSpPr>
        <p:spPr>
          <a:xfrm>
            <a:off x="4582800" y="1124744"/>
            <a:ext cx="4104000" cy="512694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13" name="頁尾版面配置區 4">
            <a:extLst>
              <a:ext uri="{FF2B5EF4-FFF2-40B4-BE49-F238E27FC236}">
                <a16:creationId xmlns:a16="http://schemas.microsoft.com/office/drawing/2014/main" id="{87283512-56C0-4588-8C91-3EE7F5E8660C}"/>
              </a:ext>
            </a:extLst>
          </p:cNvPr>
          <p:cNvSpPr txBox="1">
            <a:spLocks/>
          </p:cNvSpPr>
          <p:nvPr/>
        </p:nvSpPr>
        <p:spPr>
          <a:xfrm>
            <a:off x="0" y="6314565"/>
            <a:ext cx="9144000" cy="548680"/>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
        <p:nvSpPr>
          <p:cNvPr id="9" name="頁尾版面配置區 4">
            <a:extLst>
              <a:ext uri="{FF2B5EF4-FFF2-40B4-BE49-F238E27FC236}">
                <a16:creationId xmlns:a16="http://schemas.microsoft.com/office/drawing/2014/main" id="{F678655B-E7F8-448E-B6B1-FF6DF99DCCD6}"/>
              </a:ext>
            </a:extLst>
          </p:cNvPr>
          <p:cNvSpPr>
            <a:spLocks noGrp="1"/>
          </p:cNvSpPr>
          <p:nvPr>
            <p:ph type="ftr" sz="quarter" idx="3"/>
          </p:nvPr>
        </p:nvSpPr>
        <p:spPr>
          <a:xfrm>
            <a:off x="1043608" y="6309320"/>
            <a:ext cx="7056784" cy="548680"/>
          </a:xfrm>
          <a:prstGeom prst="rect">
            <a:avLst/>
          </a:prstGeom>
        </p:spPr>
        <p:txBody>
          <a:bodyPr vert="horz" lIns="91440" tIns="45720" rIns="91440" bIns="45720" rtlCol="0" anchor="ctr"/>
          <a:lstStyle>
            <a:lvl1pPr algn="ctr">
              <a:defRPr sz="1100" b="1">
                <a:solidFill>
                  <a:srgbClr val="336600"/>
                </a:solidFill>
              </a:defRPr>
            </a:lvl1p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1" name="日期版面配置區 3">
            <a:extLst>
              <a:ext uri="{FF2B5EF4-FFF2-40B4-BE49-F238E27FC236}">
                <a16:creationId xmlns:a16="http://schemas.microsoft.com/office/drawing/2014/main" id="{644C59DC-F596-4A8D-B060-A3A9FBE48568}"/>
              </a:ext>
            </a:extLst>
          </p:cNvPr>
          <p:cNvSpPr>
            <a:spLocks noGrp="1"/>
          </p:cNvSpPr>
          <p:nvPr>
            <p:ph type="dt" sz="half" idx="2"/>
          </p:nvPr>
        </p:nvSpPr>
        <p:spPr>
          <a:xfrm>
            <a:off x="0" y="6580800"/>
            <a:ext cx="971600" cy="277200"/>
          </a:xfrm>
          <a:prstGeom prst="rect">
            <a:avLst/>
          </a:prstGeom>
        </p:spPr>
        <p:txBody>
          <a:bodyPr vert="horz" lIns="91440" tIns="45720" rIns="91440" bIns="45720" rtlCol="0" anchor="ctr"/>
          <a:lstStyle>
            <a:lvl1pPr algn="l">
              <a:defRPr sz="1200">
                <a:solidFill>
                  <a:srgbClr val="336600"/>
                </a:solidFill>
              </a:defRPr>
            </a:lvl1pPr>
          </a:lstStyle>
          <a:p>
            <a:fld id="{AE8C5876-40B1-41D2-B59C-CAFD7342C27E}" type="datetime1">
              <a:rPr lang="zh-TW" altLang="en-US" smtClean="0"/>
              <a:pPr/>
              <a:t>2026/9/10</a:t>
            </a:fld>
            <a:endParaRPr lang="zh-TW" altLang="en-US" dirty="0"/>
          </a:p>
        </p:txBody>
      </p:sp>
      <p:sp>
        <p:nvSpPr>
          <p:cNvPr id="12" name="投影片編號版面配置區 5">
            <a:extLst>
              <a:ext uri="{FF2B5EF4-FFF2-40B4-BE49-F238E27FC236}">
                <a16:creationId xmlns:a16="http://schemas.microsoft.com/office/drawing/2014/main" id="{F3D44B13-6E3F-4048-BD4E-829224625DBD}"/>
              </a:ext>
            </a:extLst>
          </p:cNvPr>
          <p:cNvSpPr>
            <a:spLocks noGrp="1"/>
          </p:cNvSpPr>
          <p:nvPr>
            <p:ph type="sldNum" sz="quarter" idx="4"/>
          </p:nvPr>
        </p:nvSpPr>
        <p:spPr>
          <a:xfrm>
            <a:off x="8686800" y="6580800"/>
            <a:ext cx="457200" cy="277200"/>
          </a:xfrm>
          <a:prstGeom prst="rect">
            <a:avLst/>
          </a:prstGeom>
        </p:spPr>
        <p:txBody>
          <a:bodyPr vert="horz" lIns="91440" tIns="45720" rIns="90000" bIns="45720" rtlCol="0" anchor="ctr"/>
          <a:lstStyle>
            <a:lvl1pPr algn="r">
              <a:defRPr sz="1200">
                <a:solidFill>
                  <a:srgbClr val="336600"/>
                </a:solidFill>
              </a:defRPr>
            </a:lvl1pPr>
          </a:lstStyle>
          <a:p>
            <a:fld id="{73DA0BB7-265A-403C-9275-D587AB510EDC}" type="slidenum">
              <a:rPr lang="zh-TW" altLang="en-US" smtClean="0"/>
              <a:pPr/>
              <a:t>‹#›</a:t>
            </a:fld>
            <a:endParaRPr lang="zh-TW" altLang="en-US" dirty="0"/>
          </a:p>
        </p:txBody>
      </p:sp>
    </p:spTree>
    <p:extLst>
      <p:ext uri="{BB962C8B-B14F-4D97-AF65-F5344CB8AC3E}">
        <p14:creationId xmlns:p14="http://schemas.microsoft.com/office/powerpoint/2010/main" val="2498642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7" name="頁尾版面配置區 4">
            <a:extLst>
              <a:ext uri="{FF2B5EF4-FFF2-40B4-BE49-F238E27FC236}">
                <a16:creationId xmlns:a16="http://schemas.microsoft.com/office/drawing/2014/main" id="{1C5D95F0-6A66-4684-BF91-02657222B15B}"/>
              </a:ext>
            </a:extLst>
          </p:cNvPr>
          <p:cNvSpPr txBox="1">
            <a:spLocks/>
          </p:cNvSpPr>
          <p:nvPr/>
        </p:nvSpPr>
        <p:spPr>
          <a:xfrm>
            <a:off x="0" y="6314565"/>
            <a:ext cx="9144000" cy="548680"/>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
        <p:nvSpPr>
          <p:cNvPr id="8" name="頁尾版面配置區 4">
            <a:extLst>
              <a:ext uri="{FF2B5EF4-FFF2-40B4-BE49-F238E27FC236}">
                <a16:creationId xmlns:a16="http://schemas.microsoft.com/office/drawing/2014/main" id="{84D96AE8-A7C2-40AE-9181-B1ACFC224413}"/>
              </a:ext>
            </a:extLst>
          </p:cNvPr>
          <p:cNvSpPr>
            <a:spLocks noGrp="1"/>
          </p:cNvSpPr>
          <p:nvPr>
            <p:ph type="ftr" sz="quarter" idx="3"/>
          </p:nvPr>
        </p:nvSpPr>
        <p:spPr>
          <a:xfrm>
            <a:off x="1043608" y="6309320"/>
            <a:ext cx="7056784" cy="548680"/>
          </a:xfrm>
          <a:prstGeom prst="rect">
            <a:avLst/>
          </a:prstGeom>
        </p:spPr>
        <p:txBody>
          <a:bodyPr vert="horz" lIns="91440" tIns="45720" rIns="91440" bIns="45720" rtlCol="0" anchor="ctr"/>
          <a:lstStyle>
            <a:lvl1pPr algn="ctr">
              <a:defRPr sz="1100" b="1">
                <a:solidFill>
                  <a:srgbClr val="336600"/>
                </a:solidFill>
              </a:defRPr>
            </a:lvl1p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9" name="日期版面配置區 3">
            <a:extLst>
              <a:ext uri="{FF2B5EF4-FFF2-40B4-BE49-F238E27FC236}">
                <a16:creationId xmlns:a16="http://schemas.microsoft.com/office/drawing/2014/main" id="{6FE69032-8857-41F5-B756-4352BC5D8D9C}"/>
              </a:ext>
            </a:extLst>
          </p:cNvPr>
          <p:cNvSpPr>
            <a:spLocks noGrp="1"/>
          </p:cNvSpPr>
          <p:nvPr>
            <p:ph type="dt" sz="half" idx="2"/>
          </p:nvPr>
        </p:nvSpPr>
        <p:spPr>
          <a:xfrm>
            <a:off x="0" y="6580800"/>
            <a:ext cx="971600" cy="277200"/>
          </a:xfrm>
          <a:prstGeom prst="rect">
            <a:avLst/>
          </a:prstGeom>
        </p:spPr>
        <p:txBody>
          <a:bodyPr vert="horz" lIns="91440" tIns="45720" rIns="91440" bIns="45720" rtlCol="0" anchor="ctr"/>
          <a:lstStyle>
            <a:lvl1pPr algn="l">
              <a:defRPr sz="1200">
                <a:solidFill>
                  <a:srgbClr val="336600"/>
                </a:solidFill>
              </a:defRPr>
            </a:lvl1pPr>
          </a:lstStyle>
          <a:p>
            <a:fld id="{AE8C5876-40B1-41D2-B59C-CAFD7342C27E}" type="datetime1">
              <a:rPr lang="zh-TW" altLang="en-US" smtClean="0"/>
              <a:pPr/>
              <a:t>2026/9/10</a:t>
            </a:fld>
            <a:endParaRPr lang="zh-TW" altLang="en-US" dirty="0"/>
          </a:p>
        </p:txBody>
      </p:sp>
      <p:sp>
        <p:nvSpPr>
          <p:cNvPr id="10" name="投影片編號版面配置區 5">
            <a:extLst>
              <a:ext uri="{FF2B5EF4-FFF2-40B4-BE49-F238E27FC236}">
                <a16:creationId xmlns:a16="http://schemas.microsoft.com/office/drawing/2014/main" id="{44A80002-E3B6-4891-9C29-80554C5CA453}"/>
              </a:ext>
            </a:extLst>
          </p:cNvPr>
          <p:cNvSpPr>
            <a:spLocks noGrp="1"/>
          </p:cNvSpPr>
          <p:nvPr>
            <p:ph type="sldNum" sz="quarter" idx="4"/>
          </p:nvPr>
        </p:nvSpPr>
        <p:spPr>
          <a:xfrm>
            <a:off x="8686800" y="6580800"/>
            <a:ext cx="457200" cy="277200"/>
          </a:xfrm>
          <a:prstGeom prst="rect">
            <a:avLst/>
          </a:prstGeom>
        </p:spPr>
        <p:txBody>
          <a:bodyPr vert="horz" lIns="91440" tIns="45720" rIns="90000" bIns="45720" rtlCol="0" anchor="ctr"/>
          <a:lstStyle>
            <a:lvl1pPr algn="r">
              <a:defRPr sz="1200">
                <a:solidFill>
                  <a:srgbClr val="336600"/>
                </a:solidFill>
              </a:defRPr>
            </a:lvl1pPr>
          </a:lstStyle>
          <a:p>
            <a:fld id="{73DA0BB7-265A-403C-9275-D587AB510EDC}" type="slidenum">
              <a:rPr lang="zh-TW" altLang="en-US" smtClean="0"/>
              <a:pPr/>
              <a:t>‹#›</a:t>
            </a:fld>
            <a:endParaRPr lang="zh-TW" altLang="en-US" dirty="0"/>
          </a:p>
        </p:txBody>
      </p:sp>
    </p:spTree>
    <p:extLst>
      <p:ext uri="{BB962C8B-B14F-4D97-AF65-F5344CB8AC3E}">
        <p14:creationId xmlns:p14="http://schemas.microsoft.com/office/powerpoint/2010/main" val="3666681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section">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833FE29-CAE6-4831-A1CC-90E41F426768}"/>
              </a:ext>
            </a:extLst>
          </p:cNvPr>
          <p:cNvSpPr/>
          <p:nvPr/>
        </p:nvSpPr>
        <p:spPr>
          <a:xfrm>
            <a:off x="0" y="0"/>
            <a:ext cx="9144000" cy="126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title"/>
          </p:nvPr>
        </p:nvSpPr>
        <p:spPr>
          <a:xfrm>
            <a:off x="457200" y="0"/>
            <a:ext cx="8229600" cy="6858000"/>
          </a:xfrm>
        </p:spPr>
        <p:txBody>
          <a:bodyPr>
            <a:normAutofit/>
          </a:bodyPr>
          <a:lstStyle>
            <a:lvl1pPr algn="ctr">
              <a:defRPr sz="2800" b="1"/>
            </a:lvl1pPr>
          </a:lstStyle>
          <a:p>
            <a:r>
              <a:rPr lang="zh-TW" altLang="en-US"/>
              <a:t>按一下以編輯母片標題樣式</a:t>
            </a:r>
            <a:endParaRPr lang="zh-TW" altLang="en-US" dirty="0"/>
          </a:p>
        </p:txBody>
      </p:sp>
      <p:sp>
        <p:nvSpPr>
          <p:cNvPr id="4" name="頁尾版面配置區 4">
            <a:extLst>
              <a:ext uri="{FF2B5EF4-FFF2-40B4-BE49-F238E27FC236}">
                <a16:creationId xmlns:a16="http://schemas.microsoft.com/office/drawing/2014/main" id="{6A729422-D7A6-430F-9F40-FA0064AD6C0E}"/>
              </a:ext>
            </a:extLst>
          </p:cNvPr>
          <p:cNvSpPr>
            <a:spLocks noGrp="1"/>
          </p:cNvSpPr>
          <p:nvPr>
            <p:ph type="ftr" sz="quarter" idx="3"/>
          </p:nvPr>
        </p:nvSpPr>
        <p:spPr>
          <a:xfrm>
            <a:off x="1043608" y="6309320"/>
            <a:ext cx="7056784" cy="548680"/>
          </a:xfrm>
          <a:prstGeom prst="rect">
            <a:avLst/>
          </a:prstGeom>
        </p:spPr>
        <p:txBody>
          <a:bodyPr vert="horz" lIns="91440" tIns="45720" rIns="91440" bIns="45720" rtlCol="0" anchor="ctr"/>
          <a:lstStyle>
            <a:lvl1pPr algn="ctr">
              <a:defRPr sz="1100" b="1">
                <a:solidFill>
                  <a:srgbClr val="336600"/>
                </a:solidFill>
              </a:defRPr>
            </a:lvl1p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Tree>
    <p:extLst>
      <p:ext uri="{BB962C8B-B14F-4D97-AF65-F5344CB8AC3E}">
        <p14:creationId xmlns:p14="http://schemas.microsoft.com/office/powerpoint/2010/main" val="39804101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tif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頁尾版面配置區 4">
            <a:extLst>
              <a:ext uri="{FF2B5EF4-FFF2-40B4-BE49-F238E27FC236}">
                <a16:creationId xmlns:a16="http://schemas.microsoft.com/office/drawing/2014/main" id="{F852660B-5776-4457-897C-22F48580809B}"/>
              </a:ext>
            </a:extLst>
          </p:cNvPr>
          <p:cNvSpPr txBox="1">
            <a:spLocks/>
          </p:cNvSpPr>
          <p:nvPr/>
        </p:nvSpPr>
        <p:spPr>
          <a:xfrm>
            <a:off x="0" y="6314565"/>
            <a:ext cx="9144000" cy="548680"/>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
        <p:nvSpPr>
          <p:cNvPr id="2" name="標題版面配置區 1"/>
          <p:cNvSpPr>
            <a:spLocks noGrp="1"/>
          </p:cNvSpPr>
          <p:nvPr>
            <p:ph type="title"/>
          </p:nvPr>
        </p:nvSpPr>
        <p:spPr>
          <a:xfrm>
            <a:off x="457200" y="229974"/>
            <a:ext cx="5194920" cy="850106"/>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p:cNvSpPr>
            <a:spLocks noGrp="1"/>
          </p:cNvSpPr>
          <p:nvPr>
            <p:ph type="body" idx="1"/>
          </p:nvPr>
        </p:nvSpPr>
        <p:spPr>
          <a:xfrm>
            <a:off x="457200" y="1124743"/>
            <a:ext cx="8229600" cy="5126979"/>
          </a:xfrm>
          <a:prstGeom prst="rect">
            <a:avLst/>
          </a:prstGeom>
        </p:spPr>
        <p:txBody>
          <a:bodyPr vert="horz" lIns="91440" tIns="45720" rIns="91440" bIns="45720" rtlCol="0" anchor="ctr">
            <a:normAutofit/>
          </a:bodyPr>
          <a:lstStyle/>
          <a:p>
            <a:pPr lvl="0"/>
            <a:r>
              <a:rPr lang="en-US" altLang="zh-TW" dirty="0"/>
              <a:t>ABC</a:t>
            </a:r>
            <a:endParaRPr lang="zh-TW" altLang="en-US" dirty="0"/>
          </a:p>
          <a:p>
            <a:pPr lvl="1"/>
            <a:r>
              <a:rPr lang="en-US" altLang="zh-TW" dirty="0"/>
              <a:t>ABC</a:t>
            </a:r>
            <a:endParaRPr lang="zh-TW" altLang="en-US" dirty="0"/>
          </a:p>
          <a:p>
            <a:pPr lvl="2"/>
            <a:r>
              <a:rPr lang="en-US" altLang="zh-TW" dirty="0"/>
              <a:t>ABC</a:t>
            </a:r>
            <a:endParaRPr lang="zh-TW" altLang="en-US" dirty="0"/>
          </a:p>
          <a:p>
            <a:pPr lvl="3"/>
            <a:r>
              <a:rPr lang="en-US" altLang="zh-TW" dirty="0"/>
              <a:t>ABC</a:t>
            </a:r>
            <a:endParaRPr lang="zh-TW" altLang="en-US" dirty="0"/>
          </a:p>
          <a:p>
            <a:pPr lvl="4"/>
            <a:r>
              <a:rPr lang="en-US" altLang="zh-TW" dirty="0"/>
              <a:t>ABC</a:t>
            </a:r>
            <a:endParaRPr lang="zh-TW" altLang="en-US" dirty="0"/>
          </a:p>
        </p:txBody>
      </p:sp>
      <p:sp>
        <p:nvSpPr>
          <p:cNvPr id="4" name="日期版面配置區 3"/>
          <p:cNvSpPr>
            <a:spLocks noGrp="1"/>
          </p:cNvSpPr>
          <p:nvPr>
            <p:ph type="dt" sz="half" idx="2"/>
          </p:nvPr>
        </p:nvSpPr>
        <p:spPr>
          <a:xfrm>
            <a:off x="0" y="6580800"/>
            <a:ext cx="971600" cy="277200"/>
          </a:xfrm>
          <a:prstGeom prst="rect">
            <a:avLst/>
          </a:prstGeom>
        </p:spPr>
        <p:txBody>
          <a:bodyPr vert="horz" lIns="91440" tIns="45720" rIns="91440" bIns="45720" rtlCol="0" anchor="ctr"/>
          <a:lstStyle>
            <a:lvl1pPr algn="l">
              <a:defRPr sz="1200">
                <a:solidFill>
                  <a:srgbClr val="336600"/>
                </a:solidFill>
              </a:defRPr>
            </a:lvl1pPr>
          </a:lstStyle>
          <a:p>
            <a:fld id="{AE8C5876-40B1-41D2-B59C-CAFD7342C27E}" type="datetime1">
              <a:rPr lang="zh-TW" altLang="en-US" smtClean="0"/>
              <a:pPr/>
              <a:t>2026/9/10</a:t>
            </a:fld>
            <a:endParaRPr lang="zh-TW" altLang="en-US" dirty="0"/>
          </a:p>
        </p:txBody>
      </p:sp>
      <p:sp>
        <p:nvSpPr>
          <p:cNvPr id="5" name="頁尾版面配置區 4"/>
          <p:cNvSpPr>
            <a:spLocks noGrp="1"/>
          </p:cNvSpPr>
          <p:nvPr>
            <p:ph type="ftr" sz="quarter" idx="3"/>
          </p:nvPr>
        </p:nvSpPr>
        <p:spPr>
          <a:xfrm>
            <a:off x="1043608" y="6309320"/>
            <a:ext cx="7056784" cy="548680"/>
          </a:xfrm>
          <a:prstGeom prst="rect">
            <a:avLst/>
          </a:prstGeom>
        </p:spPr>
        <p:txBody>
          <a:bodyPr vert="horz" lIns="91440" tIns="45720" rIns="91440" bIns="45720" rtlCol="0" anchor="ctr"/>
          <a:lstStyle>
            <a:lvl1pPr algn="ctr">
              <a:defRPr sz="1100" b="1">
                <a:solidFill>
                  <a:srgbClr val="336600"/>
                </a:solidFill>
              </a:defRPr>
            </a:lvl1p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6" name="投影片編號版面配置區 5"/>
          <p:cNvSpPr>
            <a:spLocks noGrp="1"/>
          </p:cNvSpPr>
          <p:nvPr>
            <p:ph type="sldNum" sz="quarter" idx="4"/>
          </p:nvPr>
        </p:nvSpPr>
        <p:spPr>
          <a:xfrm>
            <a:off x="8686800" y="6580800"/>
            <a:ext cx="457200" cy="277200"/>
          </a:xfrm>
          <a:prstGeom prst="rect">
            <a:avLst/>
          </a:prstGeom>
        </p:spPr>
        <p:txBody>
          <a:bodyPr vert="horz" lIns="91440" tIns="45720" rIns="90000" bIns="45720" rtlCol="0" anchor="ctr"/>
          <a:lstStyle>
            <a:lvl1pPr algn="r">
              <a:defRPr sz="1200">
                <a:solidFill>
                  <a:srgbClr val="336600"/>
                </a:solidFill>
              </a:defRPr>
            </a:lvl1pPr>
          </a:lstStyle>
          <a:p>
            <a:fld id="{73DA0BB7-265A-403C-9275-D587AB510EDC}" type="slidenum">
              <a:rPr lang="zh-TW" altLang="en-US" smtClean="0"/>
              <a:pPr/>
              <a:t>‹#›</a:t>
            </a:fld>
            <a:endParaRPr lang="zh-TW" altLang="en-US" dirty="0"/>
          </a:p>
        </p:txBody>
      </p:sp>
      <p:pic>
        <p:nvPicPr>
          <p:cNvPr id="10" name="圖片 9">
            <a:extLst>
              <a:ext uri="{FF2B5EF4-FFF2-40B4-BE49-F238E27FC236}">
                <a16:creationId xmlns:a16="http://schemas.microsoft.com/office/drawing/2014/main" id="{47C708AB-5D55-4057-B90D-C6A1145D6B6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868144" y="294895"/>
            <a:ext cx="2901262" cy="626304"/>
          </a:xfrm>
          <a:prstGeom prst="rect">
            <a:avLst/>
          </a:prstGeom>
        </p:spPr>
      </p:pic>
      <p:sp>
        <p:nvSpPr>
          <p:cNvPr id="15" name="矩形 14">
            <a:extLst>
              <a:ext uri="{FF2B5EF4-FFF2-40B4-BE49-F238E27FC236}">
                <a16:creationId xmlns:a16="http://schemas.microsoft.com/office/drawing/2014/main" id="{9FD66C9F-0895-400E-BFED-27AA177BF9FA}"/>
              </a:ext>
            </a:extLst>
          </p:cNvPr>
          <p:cNvSpPr/>
          <p:nvPr/>
        </p:nvSpPr>
        <p:spPr>
          <a:xfrm>
            <a:off x="0" y="1102412"/>
            <a:ext cx="9144000" cy="57598"/>
          </a:xfrm>
          <a:prstGeom prst="rect">
            <a:avLst/>
          </a:prstGeom>
          <a:solidFill>
            <a:srgbClr val="1187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矩形 15">
            <a:extLst>
              <a:ext uri="{FF2B5EF4-FFF2-40B4-BE49-F238E27FC236}">
                <a16:creationId xmlns:a16="http://schemas.microsoft.com/office/drawing/2014/main" id="{3FC8AF83-B570-4F31-A1B8-84B10EDADFC6}"/>
              </a:ext>
            </a:extLst>
          </p:cNvPr>
          <p:cNvSpPr/>
          <p:nvPr/>
        </p:nvSpPr>
        <p:spPr>
          <a:xfrm>
            <a:off x="0" y="1044814"/>
            <a:ext cx="9144000" cy="57598"/>
          </a:xfrm>
          <a:prstGeom prst="rect">
            <a:avLst/>
          </a:prstGeom>
          <a:solidFill>
            <a:srgbClr val="97B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62" r:id="rId3"/>
    <p:sldLayoutId id="2147483658" r:id="rId4"/>
    <p:sldLayoutId id="2147483657" r:id="rId5"/>
  </p:sldLayoutIdLst>
  <p:hf hdr="0"/>
  <p:txStyles>
    <p:titleStyle>
      <a:lvl1pPr algn="l" defTabSz="914400" rtl="0" eaLnBrk="1" latinLnBrk="0" hangingPunct="1">
        <a:spcBef>
          <a:spcPct val="0"/>
        </a:spcBef>
        <a:buNone/>
        <a:defRPr sz="2400" kern="1200">
          <a:solidFill>
            <a:schemeClr val="tx1"/>
          </a:solidFill>
          <a:latin typeface="+mj-lt"/>
          <a:ea typeface="+mj-ea"/>
          <a:cs typeface="+mj-cs"/>
        </a:defRPr>
      </a:lvl1pPr>
    </p:titleStyle>
    <p:bodyStyle>
      <a:lvl1pPr marL="36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1pPr>
      <a:lvl2pPr marL="72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2pPr>
      <a:lvl3pPr marL="108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3pPr>
      <a:lvl4pPr marL="144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4pPr>
      <a:lvl5pPr marL="180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35.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Reference (5)</a:t>
            </a:r>
            <a:endParaRPr lang="zh-TW" altLang="en-US" dirty="0"/>
          </a:p>
        </p:txBody>
      </p:sp>
      <p:sp>
        <p:nvSpPr>
          <p:cNvPr id="3" name="副標題 2"/>
          <p:cNvSpPr>
            <a:spLocks noGrp="1"/>
          </p:cNvSpPr>
          <p:nvPr>
            <p:ph type="subTitle" idx="1"/>
          </p:nvPr>
        </p:nvSpPr>
        <p:spPr/>
        <p:txBody>
          <a:bodyPr/>
          <a:lstStyle/>
          <a:p>
            <a:r>
              <a:rPr lang="en-US" altLang="zh-TW" dirty="0"/>
              <a:t>Jeff </a:t>
            </a:r>
            <a:r>
              <a:rPr lang="zh-TW" altLang="zh-TW" dirty="0"/>
              <a:t>(CHI-HSUAN HO)</a:t>
            </a:r>
            <a:endParaRPr lang="zh-TW" altLang="en-US" dirty="0"/>
          </a:p>
        </p:txBody>
      </p:sp>
      <p:sp>
        <p:nvSpPr>
          <p:cNvPr id="5" name="文字方塊 4">
            <a:extLst>
              <a:ext uri="{FF2B5EF4-FFF2-40B4-BE49-F238E27FC236}">
                <a16:creationId xmlns:a16="http://schemas.microsoft.com/office/drawing/2014/main" id="{13E46811-D212-0109-13D1-67B638DCA017}"/>
              </a:ext>
            </a:extLst>
          </p:cNvPr>
          <p:cNvSpPr txBox="1"/>
          <p:nvPr/>
        </p:nvSpPr>
        <p:spPr>
          <a:xfrm>
            <a:off x="310896" y="5990767"/>
            <a:ext cx="8522208" cy="307777"/>
          </a:xfrm>
          <a:prstGeom prst="rect">
            <a:avLst/>
          </a:prstGeom>
          <a:noFill/>
        </p:spPr>
        <p:txBody>
          <a:bodyPr wrap="square">
            <a:spAutoFit/>
          </a:bodyPr>
          <a:lstStyle/>
          <a:p>
            <a:pPr algn="ctr"/>
            <a:r>
              <a:rPr lang="zh-TW" altLang="zh-TW" sz="1400" b="1" dirty="0">
                <a:solidFill>
                  <a:srgbClr val="FF0000"/>
                </a:solidFill>
              </a:rPr>
              <a:t>The subsequent slides only showcase a few parts of the work materials and results. </a:t>
            </a:r>
            <a:endParaRPr lang="zh-TW" altLang="en-US" sz="1400" b="1" dirty="0">
              <a:solidFill>
                <a:srgbClr val="FF0000"/>
              </a:solidFill>
            </a:endParaRPr>
          </a:p>
        </p:txBody>
      </p:sp>
    </p:spTree>
    <p:extLst>
      <p:ext uri="{BB962C8B-B14F-4D97-AF65-F5344CB8AC3E}">
        <p14:creationId xmlns:p14="http://schemas.microsoft.com/office/powerpoint/2010/main" val="2316510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690E3-F4C3-19D1-9571-8A76D41EAAE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099863D-656E-CF1D-819B-CAB070C3DBB4}"/>
              </a:ext>
            </a:extLst>
          </p:cNvPr>
          <p:cNvSpPr>
            <a:spLocks noGrp="1"/>
          </p:cNvSpPr>
          <p:nvPr>
            <p:ph type="ctrTitle"/>
          </p:nvPr>
        </p:nvSpPr>
        <p:spPr>
          <a:xfrm>
            <a:off x="287867" y="2130425"/>
            <a:ext cx="8568266" cy="1470025"/>
          </a:xfrm>
        </p:spPr>
        <p:txBody>
          <a:bodyPr/>
          <a:lstStyle/>
          <a:p>
            <a:r>
              <a:rPr lang="en-US" altLang="zh-TW" dirty="0"/>
              <a:t>Chip Image Gridding – Signal Intensity Extraction, Collection, and Correction Software</a:t>
            </a:r>
            <a:endParaRPr lang="zh-TW" altLang="en-US" dirty="0"/>
          </a:p>
        </p:txBody>
      </p:sp>
      <p:sp>
        <p:nvSpPr>
          <p:cNvPr id="3" name="副標題 2">
            <a:extLst>
              <a:ext uri="{FF2B5EF4-FFF2-40B4-BE49-F238E27FC236}">
                <a16:creationId xmlns:a16="http://schemas.microsoft.com/office/drawing/2014/main" id="{2F5366BA-81CF-A131-E833-33588E470198}"/>
              </a:ext>
            </a:extLst>
          </p:cNvPr>
          <p:cNvSpPr>
            <a:spLocks noGrp="1"/>
          </p:cNvSpPr>
          <p:nvPr>
            <p:ph type="subTitle" idx="1"/>
          </p:nvPr>
        </p:nvSpPr>
        <p:spPr/>
        <p:txBody>
          <a:bodyPr/>
          <a:lstStyle/>
          <a:p>
            <a:r>
              <a:rPr lang="en-US" altLang="zh-TW" dirty="0"/>
              <a:t>Jeff </a:t>
            </a:r>
            <a:r>
              <a:rPr lang="zh-TW" altLang="zh-TW" dirty="0"/>
              <a:t>(CHI-HSUAN HO)</a:t>
            </a:r>
            <a:endParaRPr lang="zh-TW" altLang="en-US" dirty="0"/>
          </a:p>
        </p:txBody>
      </p:sp>
    </p:spTree>
    <p:extLst>
      <p:ext uri="{BB962C8B-B14F-4D97-AF65-F5344CB8AC3E}">
        <p14:creationId xmlns:p14="http://schemas.microsoft.com/office/powerpoint/2010/main" val="4279749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0C8BB-A6E5-C206-CFFA-A9BB9C0BFBF9}"/>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9D0B0173-EC86-C1D0-3AB2-A3B0A83A5EC7}"/>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9AD3099A-576E-0FEF-4059-8D9EFCE1B40F}"/>
              </a:ext>
            </a:extLst>
          </p:cNvPr>
          <p:cNvSpPr>
            <a:spLocks noGrp="1"/>
          </p:cNvSpPr>
          <p:nvPr>
            <p:ph type="title"/>
          </p:nvPr>
        </p:nvSpPr>
        <p:spPr>
          <a:xfrm>
            <a:off x="457200" y="230188"/>
            <a:ext cx="5194300" cy="849312"/>
          </a:xfrm>
        </p:spPr>
        <p:txBody>
          <a:bodyPr/>
          <a:lstStyle/>
          <a:p>
            <a:r>
              <a:rPr lang="en-US" altLang="zh-TW" dirty="0"/>
              <a:t>Chip Image Gridding</a:t>
            </a:r>
            <a:endParaRPr lang="zh-TW" altLang="en-US" dirty="0"/>
          </a:p>
        </p:txBody>
      </p:sp>
      <p:sp>
        <p:nvSpPr>
          <p:cNvPr id="6" name="投影片編號版面配置區 5">
            <a:extLst>
              <a:ext uri="{FF2B5EF4-FFF2-40B4-BE49-F238E27FC236}">
                <a16:creationId xmlns:a16="http://schemas.microsoft.com/office/drawing/2014/main" id="{853009F3-BBC5-0769-9ECE-BD9CCCCDC62E}"/>
              </a:ext>
            </a:extLst>
          </p:cNvPr>
          <p:cNvSpPr>
            <a:spLocks noGrp="1"/>
          </p:cNvSpPr>
          <p:nvPr>
            <p:ph type="sldNum" sz="quarter" idx="4"/>
          </p:nvPr>
        </p:nvSpPr>
        <p:spPr/>
        <p:txBody>
          <a:bodyPr/>
          <a:lstStyle/>
          <a:p>
            <a:fld id="{73DA0BB7-265A-403C-9275-D587AB510EDC}" type="slidenum">
              <a:rPr lang="zh-TW" altLang="en-US" smtClean="0"/>
              <a:pPr/>
              <a:t>3</a:t>
            </a:fld>
            <a:endParaRPr lang="zh-TW" altLang="en-US" dirty="0"/>
          </a:p>
        </p:txBody>
      </p:sp>
      <p:sp>
        <p:nvSpPr>
          <p:cNvPr id="21" name="頁尾版面配置區 3">
            <a:extLst>
              <a:ext uri="{FF2B5EF4-FFF2-40B4-BE49-F238E27FC236}">
                <a16:creationId xmlns:a16="http://schemas.microsoft.com/office/drawing/2014/main" id="{19B61F59-6BAC-E178-BA10-0FFAB849248A}"/>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4" name="文字方塊 13">
            <a:extLst>
              <a:ext uri="{FF2B5EF4-FFF2-40B4-BE49-F238E27FC236}">
                <a16:creationId xmlns:a16="http://schemas.microsoft.com/office/drawing/2014/main" id="{DE6884D1-4DF5-1409-7E8B-292904029832}"/>
              </a:ext>
            </a:extLst>
          </p:cNvPr>
          <p:cNvSpPr txBox="1"/>
          <p:nvPr/>
        </p:nvSpPr>
        <p:spPr>
          <a:xfrm>
            <a:off x="268514" y="1237540"/>
            <a:ext cx="5065486"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Intensity Extraction Techniques Development</a:t>
            </a:r>
            <a:endParaRPr lang="zh-TW" altLang="en-US" dirty="0"/>
          </a:p>
        </p:txBody>
      </p:sp>
      <p:pic>
        <p:nvPicPr>
          <p:cNvPr id="3" name="圖片 2">
            <a:extLst>
              <a:ext uri="{FF2B5EF4-FFF2-40B4-BE49-F238E27FC236}">
                <a16:creationId xmlns:a16="http://schemas.microsoft.com/office/drawing/2014/main" id="{17F09F63-0685-E637-C009-E59273032A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981" y="1632987"/>
            <a:ext cx="7481524" cy="4576214"/>
          </a:xfrm>
          <a:prstGeom prst="rect">
            <a:avLst/>
          </a:prstGeom>
        </p:spPr>
      </p:pic>
    </p:spTree>
    <p:extLst>
      <p:ext uri="{BB962C8B-B14F-4D97-AF65-F5344CB8AC3E}">
        <p14:creationId xmlns:p14="http://schemas.microsoft.com/office/powerpoint/2010/main" val="1792845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DCC47-EB44-BE76-1E18-39FE0D7655C5}"/>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EE1FCCFB-97C8-C71A-0B29-D32665BED693}"/>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FACEA417-4116-03AA-D91A-A5B9F4E5500F}"/>
              </a:ext>
            </a:extLst>
          </p:cNvPr>
          <p:cNvSpPr>
            <a:spLocks noGrp="1"/>
          </p:cNvSpPr>
          <p:nvPr>
            <p:ph type="title"/>
          </p:nvPr>
        </p:nvSpPr>
        <p:spPr>
          <a:xfrm>
            <a:off x="457200" y="230188"/>
            <a:ext cx="5194300" cy="849312"/>
          </a:xfrm>
        </p:spPr>
        <p:txBody>
          <a:bodyPr/>
          <a:lstStyle/>
          <a:p>
            <a:r>
              <a:rPr lang="en-US" altLang="zh-TW" dirty="0"/>
              <a:t>Chip Image Gridding</a:t>
            </a:r>
            <a:endParaRPr lang="zh-TW" altLang="en-US" dirty="0"/>
          </a:p>
        </p:txBody>
      </p:sp>
      <p:sp>
        <p:nvSpPr>
          <p:cNvPr id="6" name="投影片編號版面配置區 5">
            <a:extLst>
              <a:ext uri="{FF2B5EF4-FFF2-40B4-BE49-F238E27FC236}">
                <a16:creationId xmlns:a16="http://schemas.microsoft.com/office/drawing/2014/main" id="{0B8F96C4-542F-C1CD-FE8D-1C2F08FEB4C7}"/>
              </a:ext>
            </a:extLst>
          </p:cNvPr>
          <p:cNvSpPr>
            <a:spLocks noGrp="1"/>
          </p:cNvSpPr>
          <p:nvPr>
            <p:ph type="sldNum" sz="quarter" idx="4"/>
          </p:nvPr>
        </p:nvSpPr>
        <p:spPr/>
        <p:txBody>
          <a:bodyPr/>
          <a:lstStyle/>
          <a:p>
            <a:fld id="{73DA0BB7-265A-403C-9275-D587AB510EDC}" type="slidenum">
              <a:rPr lang="zh-TW" altLang="en-US" smtClean="0"/>
              <a:pPr/>
              <a:t>4</a:t>
            </a:fld>
            <a:endParaRPr lang="zh-TW" altLang="en-US" dirty="0"/>
          </a:p>
        </p:txBody>
      </p:sp>
      <p:sp>
        <p:nvSpPr>
          <p:cNvPr id="21" name="頁尾版面配置區 3">
            <a:extLst>
              <a:ext uri="{FF2B5EF4-FFF2-40B4-BE49-F238E27FC236}">
                <a16:creationId xmlns:a16="http://schemas.microsoft.com/office/drawing/2014/main" id="{753E778F-D11C-A2FD-CF98-EA84B222BA39}"/>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4" name="文字方塊 13">
            <a:extLst>
              <a:ext uri="{FF2B5EF4-FFF2-40B4-BE49-F238E27FC236}">
                <a16:creationId xmlns:a16="http://schemas.microsoft.com/office/drawing/2014/main" id="{50A927F4-8302-9A08-A76E-9B79286DB89C}"/>
              </a:ext>
            </a:extLst>
          </p:cNvPr>
          <p:cNvSpPr txBox="1"/>
          <p:nvPr/>
        </p:nvSpPr>
        <p:spPr>
          <a:xfrm>
            <a:off x="268514" y="1237540"/>
            <a:ext cx="5065486"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Intensity Extraction Techniques Development</a:t>
            </a:r>
            <a:endParaRPr lang="zh-TW" altLang="en-US" dirty="0"/>
          </a:p>
        </p:txBody>
      </p:sp>
      <p:pic>
        <p:nvPicPr>
          <p:cNvPr id="4" name="圖片 3">
            <a:extLst>
              <a:ext uri="{FF2B5EF4-FFF2-40B4-BE49-F238E27FC236}">
                <a16:creationId xmlns:a16="http://schemas.microsoft.com/office/drawing/2014/main" id="{AD22C7D4-A934-8DE2-5DB7-D538D95C0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580" y="1625556"/>
            <a:ext cx="7718840" cy="4749305"/>
          </a:xfrm>
          <a:prstGeom prst="rect">
            <a:avLst/>
          </a:prstGeom>
        </p:spPr>
      </p:pic>
    </p:spTree>
    <p:extLst>
      <p:ext uri="{BB962C8B-B14F-4D97-AF65-F5344CB8AC3E}">
        <p14:creationId xmlns:p14="http://schemas.microsoft.com/office/powerpoint/2010/main" val="3265761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59F97-51E7-6AAD-AAC4-C3FF760E68AB}"/>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F04DC789-ABC7-2A66-E0C3-7E7E2247E9EC}"/>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A2ACEC7D-07E4-EEC3-8C40-B0D7D7FBCD24}"/>
              </a:ext>
            </a:extLst>
          </p:cNvPr>
          <p:cNvSpPr>
            <a:spLocks noGrp="1"/>
          </p:cNvSpPr>
          <p:nvPr>
            <p:ph type="title"/>
          </p:nvPr>
        </p:nvSpPr>
        <p:spPr>
          <a:xfrm>
            <a:off x="457200" y="230188"/>
            <a:ext cx="5194300" cy="849312"/>
          </a:xfrm>
        </p:spPr>
        <p:txBody>
          <a:bodyPr/>
          <a:lstStyle/>
          <a:p>
            <a:r>
              <a:rPr lang="en-US" altLang="zh-TW" dirty="0"/>
              <a:t>Chip Image Gridding</a:t>
            </a:r>
            <a:endParaRPr lang="zh-TW" altLang="en-US" dirty="0"/>
          </a:p>
        </p:txBody>
      </p:sp>
      <p:sp>
        <p:nvSpPr>
          <p:cNvPr id="6" name="投影片編號版面配置區 5">
            <a:extLst>
              <a:ext uri="{FF2B5EF4-FFF2-40B4-BE49-F238E27FC236}">
                <a16:creationId xmlns:a16="http://schemas.microsoft.com/office/drawing/2014/main" id="{3E1B1BC6-EF48-E07C-3774-DC533BB3C96E}"/>
              </a:ext>
            </a:extLst>
          </p:cNvPr>
          <p:cNvSpPr>
            <a:spLocks noGrp="1"/>
          </p:cNvSpPr>
          <p:nvPr>
            <p:ph type="sldNum" sz="quarter" idx="4"/>
          </p:nvPr>
        </p:nvSpPr>
        <p:spPr/>
        <p:txBody>
          <a:bodyPr/>
          <a:lstStyle/>
          <a:p>
            <a:fld id="{73DA0BB7-265A-403C-9275-D587AB510EDC}" type="slidenum">
              <a:rPr lang="zh-TW" altLang="en-US" smtClean="0"/>
              <a:pPr/>
              <a:t>5</a:t>
            </a:fld>
            <a:endParaRPr lang="zh-TW" altLang="en-US" dirty="0"/>
          </a:p>
        </p:txBody>
      </p:sp>
      <p:sp>
        <p:nvSpPr>
          <p:cNvPr id="14" name="文字方塊 13">
            <a:extLst>
              <a:ext uri="{FF2B5EF4-FFF2-40B4-BE49-F238E27FC236}">
                <a16:creationId xmlns:a16="http://schemas.microsoft.com/office/drawing/2014/main" id="{73FF9F6E-6AA9-45DD-3E15-2EF7C0FBA31E}"/>
              </a:ext>
            </a:extLst>
          </p:cNvPr>
          <p:cNvSpPr txBox="1"/>
          <p:nvPr/>
        </p:nvSpPr>
        <p:spPr>
          <a:xfrm>
            <a:off x="268514" y="1237540"/>
            <a:ext cx="4572000"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Marker Positioning Algorithm Development</a:t>
            </a:r>
            <a:endParaRPr lang="zh-TW" altLang="en-US" dirty="0"/>
          </a:p>
        </p:txBody>
      </p:sp>
      <p:pic>
        <p:nvPicPr>
          <p:cNvPr id="29" name="圖片 28">
            <a:extLst>
              <a:ext uri="{FF2B5EF4-FFF2-40B4-BE49-F238E27FC236}">
                <a16:creationId xmlns:a16="http://schemas.microsoft.com/office/drawing/2014/main" id="{B5BD4393-2033-8EBB-F320-CF03CD22B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47" y="1674031"/>
            <a:ext cx="8861453" cy="4480604"/>
          </a:xfrm>
          <a:prstGeom prst="rect">
            <a:avLst/>
          </a:prstGeom>
        </p:spPr>
      </p:pic>
      <p:pic>
        <p:nvPicPr>
          <p:cNvPr id="31" name="圖片 30" descr="一張含有 螢幕擷取畫面, 正方形, Rectangle, 黑色 的圖片&#10;&#10;自動產生的描述">
            <a:extLst>
              <a:ext uri="{FF2B5EF4-FFF2-40B4-BE49-F238E27FC236}">
                <a16:creationId xmlns:a16="http://schemas.microsoft.com/office/drawing/2014/main" id="{DC1F58DE-B3E5-6E9B-7C09-3830525A39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1570" y="4124398"/>
            <a:ext cx="2740859" cy="2740859"/>
          </a:xfrm>
          <a:prstGeom prst="rect">
            <a:avLst/>
          </a:prstGeom>
        </p:spPr>
      </p:pic>
    </p:spTree>
    <p:extLst>
      <p:ext uri="{BB962C8B-B14F-4D97-AF65-F5344CB8AC3E}">
        <p14:creationId xmlns:p14="http://schemas.microsoft.com/office/powerpoint/2010/main" val="131111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EC868-FB84-8ABA-31A8-639E180B978D}"/>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675426AE-BFB4-09AD-17B3-3EEE7F481A50}"/>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18F65458-4738-F952-7A5F-F2772AB2D1A7}"/>
              </a:ext>
            </a:extLst>
          </p:cNvPr>
          <p:cNvSpPr>
            <a:spLocks noGrp="1"/>
          </p:cNvSpPr>
          <p:nvPr>
            <p:ph type="title"/>
          </p:nvPr>
        </p:nvSpPr>
        <p:spPr>
          <a:xfrm>
            <a:off x="457200" y="230188"/>
            <a:ext cx="5194300" cy="849312"/>
          </a:xfrm>
        </p:spPr>
        <p:txBody>
          <a:bodyPr/>
          <a:lstStyle/>
          <a:p>
            <a:r>
              <a:rPr lang="en-US" altLang="zh-TW" dirty="0"/>
              <a:t>Chip Image Gridding</a:t>
            </a:r>
            <a:endParaRPr lang="zh-TW" altLang="en-US" dirty="0"/>
          </a:p>
        </p:txBody>
      </p:sp>
      <p:sp>
        <p:nvSpPr>
          <p:cNvPr id="6" name="投影片編號版面配置區 5">
            <a:extLst>
              <a:ext uri="{FF2B5EF4-FFF2-40B4-BE49-F238E27FC236}">
                <a16:creationId xmlns:a16="http://schemas.microsoft.com/office/drawing/2014/main" id="{4A1DA721-A7B2-F9F4-20CD-242FEFE3D5DC}"/>
              </a:ext>
            </a:extLst>
          </p:cNvPr>
          <p:cNvSpPr>
            <a:spLocks noGrp="1"/>
          </p:cNvSpPr>
          <p:nvPr>
            <p:ph type="sldNum" sz="quarter" idx="4"/>
          </p:nvPr>
        </p:nvSpPr>
        <p:spPr/>
        <p:txBody>
          <a:bodyPr/>
          <a:lstStyle/>
          <a:p>
            <a:fld id="{73DA0BB7-265A-403C-9275-D587AB510EDC}" type="slidenum">
              <a:rPr lang="zh-TW" altLang="en-US" smtClean="0"/>
              <a:pPr/>
              <a:t>6</a:t>
            </a:fld>
            <a:endParaRPr lang="zh-TW" altLang="en-US" dirty="0"/>
          </a:p>
        </p:txBody>
      </p:sp>
      <p:sp>
        <p:nvSpPr>
          <p:cNvPr id="21" name="頁尾版面配置區 3">
            <a:extLst>
              <a:ext uri="{FF2B5EF4-FFF2-40B4-BE49-F238E27FC236}">
                <a16:creationId xmlns:a16="http://schemas.microsoft.com/office/drawing/2014/main" id="{1EA3FEB2-B98F-7861-9692-FBB34D08B1E1}"/>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4" name="文字方塊 13">
            <a:extLst>
              <a:ext uri="{FF2B5EF4-FFF2-40B4-BE49-F238E27FC236}">
                <a16:creationId xmlns:a16="http://schemas.microsoft.com/office/drawing/2014/main" id="{F80D6F1C-985A-AB37-6710-8E785EF0EE1D}"/>
              </a:ext>
            </a:extLst>
          </p:cNvPr>
          <p:cNvSpPr txBox="1"/>
          <p:nvPr/>
        </p:nvSpPr>
        <p:spPr>
          <a:xfrm>
            <a:off x="268513" y="1237540"/>
            <a:ext cx="5805715"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Optical Calibration Techniques Evaluation by Sampling</a:t>
            </a:r>
            <a:endParaRPr lang="zh-TW" altLang="en-US" dirty="0"/>
          </a:p>
        </p:txBody>
      </p:sp>
      <p:pic>
        <p:nvPicPr>
          <p:cNvPr id="8" name="圖片 7">
            <a:extLst>
              <a:ext uri="{FF2B5EF4-FFF2-40B4-BE49-F238E27FC236}">
                <a16:creationId xmlns:a16="http://schemas.microsoft.com/office/drawing/2014/main" id="{014B773F-80D5-74B1-2A02-A2531F6E999B}"/>
              </a:ext>
            </a:extLst>
          </p:cNvPr>
          <p:cNvPicPr>
            <a:picLocks noChangeAspect="1"/>
          </p:cNvPicPr>
          <p:nvPr/>
        </p:nvPicPr>
        <p:blipFill>
          <a:blip r:embed="rId3">
            <a:extLst>
              <a:ext uri="{28A0092B-C50C-407E-A947-70E740481C1C}">
                <a14:useLocalDpi xmlns:a14="http://schemas.microsoft.com/office/drawing/2010/main" val="0"/>
              </a:ext>
            </a:extLst>
          </a:blip>
          <a:srcRect t="6281"/>
          <a:stretch>
            <a:fillRect/>
          </a:stretch>
        </p:blipFill>
        <p:spPr>
          <a:xfrm>
            <a:off x="566056" y="1606872"/>
            <a:ext cx="8222343" cy="4546468"/>
          </a:xfrm>
          <a:prstGeom prst="rect">
            <a:avLst/>
          </a:prstGeom>
        </p:spPr>
      </p:pic>
    </p:spTree>
    <p:extLst>
      <p:ext uri="{BB962C8B-B14F-4D97-AF65-F5344CB8AC3E}">
        <p14:creationId xmlns:p14="http://schemas.microsoft.com/office/powerpoint/2010/main" val="1831182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C4A5-C501-AB6D-5C19-5CA692094E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A73B602-D353-BC21-2FA5-F22B1C256302}"/>
              </a:ext>
            </a:extLst>
          </p:cNvPr>
          <p:cNvSpPr>
            <a:spLocks noGrp="1"/>
          </p:cNvSpPr>
          <p:nvPr>
            <p:ph type="ctrTitle"/>
          </p:nvPr>
        </p:nvSpPr>
        <p:spPr>
          <a:xfrm>
            <a:off x="287867" y="2130425"/>
            <a:ext cx="8568266" cy="1470025"/>
          </a:xfrm>
        </p:spPr>
        <p:txBody>
          <a:bodyPr/>
          <a:lstStyle/>
          <a:p>
            <a:r>
              <a:rPr lang="en-US" altLang="zh-TW" dirty="0" err="1"/>
              <a:t>PerturbVerse</a:t>
            </a:r>
            <a:r>
              <a:rPr lang="en-US" altLang="zh-TW" dirty="0"/>
              <a:t> – Perturbation-Conditioned Profiles and Epigenome Prediction Evaluation</a:t>
            </a:r>
            <a:endParaRPr lang="zh-TW" altLang="en-US" dirty="0"/>
          </a:p>
        </p:txBody>
      </p:sp>
      <p:sp>
        <p:nvSpPr>
          <p:cNvPr id="3" name="副標題 2">
            <a:extLst>
              <a:ext uri="{FF2B5EF4-FFF2-40B4-BE49-F238E27FC236}">
                <a16:creationId xmlns:a16="http://schemas.microsoft.com/office/drawing/2014/main" id="{4409E0A8-AF80-007B-3959-D86B99CD3194}"/>
              </a:ext>
            </a:extLst>
          </p:cNvPr>
          <p:cNvSpPr>
            <a:spLocks noGrp="1"/>
          </p:cNvSpPr>
          <p:nvPr>
            <p:ph type="subTitle" idx="1"/>
          </p:nvPr>
        </p:nvSpPr>
        <p:spPr/>
        <p:txBody>
          <a:bodyPr/>
          <a:lstStyle/>
          <a:p>
            <a:r>
              <a:rPr lang="en-US" altLang="zh-TW" dirty="0"/>
              <a:t>Jeff </a:t>
            </a:r>
            <a:r>
              <a:rPr lang="zh-TW" altLang="zh-TW" dirty="0"/>
              <a:t>(CHI-HSUAN HO)</a:t>
            </a:r>
            <a:endParaRPr lang="zh-TW" altLang="en-US" dirty="0"/>
          </a:p>
        </p:txBody>
      </p:sp>
    </p:spTree>
    <p:extLst>
      <p:ext uri="{BB962C8B-B14F-4D97-AF65-F5344CB8AC3E}">
        <p14:creationId xmlns:p14="http://schemas.microsoft.com/office/powerpoint/2010/main" val="2737974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33CA-6C2B-BE75-0CC9-5F2CE49B7C4C}"/>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F4AF266C-2570-E706-EB7B-6938E0AB6305}"/>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E1737205-88E3-187E-70BC-46DD3805EB8F}"/>
              </a:ext>
            </a:extLst>
          </p:cNvPr>
          <p:cNvSpPr>
            <a:spLocks noGrp="1"/>
          </p:cNvSpPr>
          <p:nvPr>
            <p:ph type="title"/>
          </p:nvPr>
        </p:nvSpPr>
        <p:spPr>
          <a:xfrm>
            <a:off x="457200" y="230188"/>
            <a:ext cx="5194300" cy="849312"/>
          </a:xfrm>
        </p:spPr>
        <p:txBody>
          <a:bodyPr/>
          <a:lstStyle/>
          <a:p>
            <a:r>
              <a:rPr lang="en-US" altLang="zh-TW" dirty="0" err="1"/>
              <a:t>PerturbVerse</a:t>
            </a:r>
            <a:endParaRPr lang="zh-TW" altLang="en-US" dirty="0"/>
          </a:p>
        </p:txBody>
      </p:sp>
      <p:sp>
        <p:nvSpPr>
          <p:cNvPr id="2" name="矩形 1">
            <a:extLst>
              <a:ext uri="{FF2B5EF4-FFF2-40B4-BE49-F238E27FC236}">
                <a16:creationId xmlns:a16="http://schemas.microsoft.com/office/drawing/2014/main" id="{CB00BC7F-900B-9DD7-FDB5-EABBB2DAF1D0}"/>
              </a:ext>
            </a:extLst>
          </p:cNvPr>
          <p:cNvSpPr/>
          <p:nvPr/>
        </p:nvSpPr>
        <p:spPr>
          <a:xfrm>
            <a:off x="431633" y="90420"/>
            <a:ext cx="2976880" cy="309883"/>
          </a:xfrm>
          <a:prstGeom prst="rect">
            <a:avLst/>
          </a:prstGeom>
          <a:solidFill>
            <a:srgbClr val="FFFFFF">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0937B442-FD73-D20B-88B5-309B71A736B1}"/>
              </a:ext>
            </a:extLst>
          </p:cNvPr>
          <p:cNvSpPr>
            <a:spLocks noGrp="1"/>
          </p:cNvSpPr>
          <p:nvPr>
            <p:ph type="sldNum" sz="quarter" idx="4"/>
          </p:nvPr>
        </p:nvSpPr>
        <p:spPr/>
        <p:txBody>
          <a:bodyPr/>
          <a:lstStyle/>
          <a:p>
            <a:fld id="{73DA0BB7-265A-403C-9275-D587AB510EDC}" type="slidenum">
              <a:rPr lang="zh-TW" altLang="en-US" smtClean="0"/>
              <a:pPr/>
              <a:t>8</a:t>
            </a:fld>
            <a:endParaRPr lang="zh-TW" altLang="en-US" dirty="0"/>
          </a:p>
        </p:txBody>
      </p:sp>
      <p:sp>
        <p:nvSpPr>
          <p:cNvPr id="21" name="頁尾版面配置區 3">
            <a:extLst>
              <a:ext uri="{FF2B5EF4-FFF2-40B4-BE49-F238E27FC236}">
                <a16:creationId xmlns:a16="http://schemas.microsoft.com/office/drawing/2014/main" id="{F7F0112A-F221-B5ED-1FBF-FABBB1BC523E}"/>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0" name="文字方塊 9">
            <a:extLst>
              <a:ext uri="{FF2B5EF4-FFF2-40B4-BE49-F238E27FC236}">
                <a16:creationId xmlns:a16="http://schemas.microsoft.com/office/drawing/2014/main" id="{1DB9808F-B56E-8B5D-490E-688E052C1A44}"/>
              </a:ext>
            </a:extLst>
          </p:cNvPr>
          <p:cNvSpPr txBox="1"/>
          <p:nvPr/>
        </p:nvSpPr>
        <p:spPr>
          <a:xfrm>
            <a:off x="268513" y="1237540"/>
            <a:ext cx="5805715"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Profile Data Preprocessing</a:t>
            </a:r>
            <a:endParaRPr lang="zh-TW" altLang="en-US" dirty="0"/>
          </a:p>
        </p:txBody>
      </p:sp>
      <p:pic>
        <p:nvPicPr>
          <p:cNvPr id="12" name="圖片 11">
            <a:extLst>
              <a:ext uri="{FF2B5EF4-FFF2-40B4-BE49-F238E27FC236}">
                <a16:creationId xmlns:a16="http://schemas.microsoft.com/office/drawing/2014/main" id="{4F731EEC-DBD0-D485-9B09-DB14F38D93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591" y="1648799"/>
            <a:ext cx="8153982" cy="4739803"/>
          </a:xfrm>
          <a:prstGeom prst="rect">
            <a:avLst/>
          </a:prstGeom>
        </p:spPr>
      </p:pic>
    </p:spTree>
    <p:extLst>
      <p:ext uri="{BB962C8B-B14F-4D97-AF65-F5344CB8AC3E}">
        <p14:creationId xmlns:p14="http://schemas.microsoft.com/office/powerpoint/2010/main" val="3304527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D08BD-1EDF-174C-5621-C324528DD471}"/>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FCE15CDF-C789-8F93-8A56-58B5412F9D9D}"/>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367A7BCE-097F-3ABB-BFDB-9D1BD2B8D223}"/>
              </a:ext>
            </a:extLst>
          </p:cNvPr>
          <p:cNvSpPr>
            <a:spLocks noGrp="1"/>
          </p:cNvSpPr>
          <p:nvPr>
            <p:ph type="title"/>
          </p:nvPr>
        </p:nvSpPr>
        <p:spPr>
          <a:xfrm>
            <a:off x="457200" y="230188"/>
            <a:ext cx="5194300" cy="849312"/>
          </a:xfrm>
        </p:spPr>
        <p:txBody>
          <a:bodyPr/>
          <a:lstStyle/>
          <a:p>
            <a:r>
              <a:rPr lang="en-US" altLang="zh-TW" dirty="0" err="1"/>
              <a:t>PerturbVerse</a:t>
            </a:r>
            <a:endParaRPr lang="zh-TW" altLang="en-US" dirty="0"/>
          </a:p>
        </p:txBody>
      </p:sp>
      <p:sp>
        <p:nvSpPr>
          <p:cNvPr id="2" name="矩形 1">
            <a:extLst>
              <a:ext uri="{FF2B5EF4-FFF2-40B4-BE49-F238E27FC236}">
                <a16:creationId xmlns:a16="http://schemas.microsoft.com/office/drawing/2014/main" id="{72C2A032-CD36-9D89-1A6A-43D15A19DDFB}"/>
              </a:ext>
            </a:extLst>
          </p:cNvPr>
          <p:cNvSpPr/>
          <p:nvPr/>
        </p:nvSpPr>
        <p:spPr>
          <a:xfrm>
            <a:off x="431633" y="90420"/>
            <a:ext cx="2976880" cy="309883"/>
          </a:xfrm>
          <a:prstGeom prst="rect">
            <a:avLst/>
          </a:prstGeom>
          <a:solidFill>
            <a:srgbClr val="FFFFFF">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2A424322-AADD-35A0-7E2B-1E78F4836F5B}"/>
              </a:ext>
            </a:extLst>
          </p:cNvPr>
          <p:cNvSpPr>
            <a:spLocks noGrp="1"/>
          </p:cNvSpPr>
          <p:nvPr>
            <p:ph type="sldNum" sz="quarter" idx="4"/>
          </p:nvPr>
        </p:nvSpPr>
        <p:spPr/>
        <p:txBody>
          <a:bodyPr/>
          <a:lstStyle/>
          <a:p>
            <a:fld id="{73DA0BB7-265A-403C-9275-D587AB510EDC}" type="slidenum">
              <a:rPr lang="zh-TW" altLang="en-US" smtClean="0"/>
              <a:pPr/>
              <a:t>9</a:t>
            </a:fld>
            <a:endParaRPr lang="zh-TW" altLang="en-US" dirty="0"/>
          </a:p>
        </p:txBody>
      </p:sp>
      <p:sp>
        <p:nvSpPr>
          <p:cNvPr id="21" name="頁尾版面配置區 3">
            <a:extLst>
              <a:ext uri="{FF2B5EF4-FFF2-40B4-BE49-F238E27FC236}">
                <a16:creationId xmlns:a16="http://schemas.microsoft.com/office/drawing/2014/main" id="{64BFAD7E-DA6B-F66A-7602-8959CB7E3BEF}"/>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0" name="文字方塊 9">
            <a:extLst>
              <a:ext uri="{FF2B5EF4-FFF2-40B4-BE49-F238E27FC236}">
                <a16:creationId xmlns:a16="http://schemas.microsoft.com/office/drawing/2014/main" id="{06F969BC-ADED-56A9-30FB-A3BC405FC051}"/>
              </a:ext>
            </a:extLst>
          </p:cNvPr>
          <p:cNvSpPr txBox="1"/>
          <p:nvPr/>
        </p:nvSpPr>
        <p:spPr>
          <a:xfrm>
            <a:off x="268513" y="1237540"/>
            <a:ext cx="5805715"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 </a:t>
            </a:r>
            <a:endParaRPr lang="zh-TW" altLang="en-US" dirty="0"/>
          </a:p>
        </p:txBody>
      </p:sp>
      <p:pic>
        <p:nvPicPr>
          <p:cNvPr id="12" name="圖片 11">
            <a:extLst>
              <a:ext uri="{FF2B5EF4-FFF2-40B4-BE49-F238E27FC236}">
                <a16:creationId xmlns:a16="http://schemas.microsoft.com/office/drawing/2014/main" id="{FA63C78B-F66D-7962-0BFD-60B74682813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8715" y="1182983"/>
            <a:ext cx="8070372" cy="5271155"/>
          </a:xfrm>
          <a:prstGeom prst="rect">
            <a:avLst/>
          </a:prstGeom>
        </p:spPr>
      </p:pic>
    </p:spTree>
    <p:extLst>
      <p:ext uri="{BB962C8B-B14F-4D97-AF65-F5344CB8AC3E}">
        <p14:creationId xmlns:p14="http://schemas.microsoft.com/office/powerpoint/2010/main" val="3493346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580D4-ACE5-52EE-A6FA-27659F9DBFB7}"/>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0F9769A7-0B1A-4DB3-E1FD-85DE45F170F6}"/>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7EACFB06-A6C8-5C0C-A3B7-0442CD1FCA60}"/>
              </a:ext>
            </a:extLst>
          </p:cNvPr>
          <p:cNvSpPr>
            <a:spLocks noGrp="1"/>
          </p:cNvSpPr>
          <p:nvPr>
            <p:ph type="title"/>
          </p:nvPr>
        </p:nvSpPr>
        <p:spPr>
          <a:xfrm>
            <a:off x="457200" y="230188"/>
            <a:ext cx="5194300" cy="849312"/>
          </a:xfrm>
        </p:spPr>
        <p:txBody>
          <a:bodyPr/>
          <a:lstStyle/>
          <a:p>
            <a:r>
              <a:rPr lang="en-US" altLang="zh-TW" dirty="0" err="1"/>
              <a:t>PerturbVerse</a:t>
            </a:r>
            <a:endParaRPr lang="zh-TW" altLang="en-US" dirty="0"/>
          </a:p>
        </p:txBody>
      </p:sp>
      <p:sp>
        <p:nvSpPr>
          <p:cNvPr id="2" name="矩形 1">
            <a:extLst>
              <a:ext uri="{FF2B5EF4-FFF2-40B4-BE49-F238E27FC236}">
                <a16:creationId xmlns:a16="http://schemas.microsoft.com/office/drawing/2014/main" id="{D3E3911E-3030-8E50-7EFF-D832F0D24C65}"/>
              </a:ext>
            </a:extLst>
          </p:cNvPr>
          <p:cNvSpPr/>
          <p:nvPr/>
        </p:nvSpPr>
        <p:spPr>
          <a:xfrm>
            <a:off x="431633" y="90420"/>
            <a:ext cx="2976880" cy="309883"/>
          </a:xfrm>
          <a:prstGeom prst="rect">
            <a:avLst/>
          </a:prstGeom>
          <a:solidFill>
            <a:srgbClr val="FFFFFF">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C27ACF0D-A28F-BA6B-5ADD-92068BE65A34}"/>
              </a:ext>
            </a:extLst>
          </p:cNvPr>
          <p:cNvSpPr>
            <a:spLocks noGrp="1"/>
          </p:cNvSpPr>
          <p:nvPr>
            <p:ph type="sldNum" sz="quarter" idx="4"/>
          </p:nvPr>
        </p:nvSpPr>
        <p:spPr/>
        <p:txBody>
          <a:bodyPr/>
          <a:lstStyle/>
          <a:p>
            <a:fld id="{73DA0BB7-265A-403C-9275-D587AB510EDC}" type="slidenum">
              <a:rPr lang="zh-TW" altLang="en-US" smtClean="0"/>
              <a:pPr/>
              <a:t>10</a:t>
            </a:fld>
            <a:endParaRPr lang="zh-TW" altLang="en-US" dirty="0"/>
          </a:p>
        </p:txBody>
      </p:sp>
      <p:sp>
        <p:nvSpPr>
          <p:cNvPr id="21" name="頁尾版面配置區 3">
            <a:extLst>
              <a:ext uri="{FF2B5EF4-FFF2-40B4-BE49-F238E27FC236}">
                <a16:creationId xmlns:a16="http://schemas.microsoft.com/office/drawing/2014/main" id="{85789D12-6C56-616D-BDF7-4CBE96324696}"/>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0" name="文字方塊 9">
            <a:extLst>
              <a:ext uri="{FF2B5EF4-FFF2-40B4-BE49-F238E27FC236}">
                <a16:creationId xmlns:a16="http://schemas.microsoft.com/office/drawing/2014/main" id="{BD90FECB-8174-0E99-ED55-883B5F9E1514}"/>
              </a:ext>
            </a:extLst>
          </p:cNvPr>
          <p:cNvSpPr txBox="1"/>
          <p:nvPr/>
        </p:nvSpPr>
        <p:spPr>
          <a:xfrm>
            <a:off x="268513" y="1237540"/>
            <a:ext cx="5805715"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Model Structure</a:t>
            </a:r>
            <a:endParaRPr lang="zh-TW" altLang="en-US" dirty="0"/>
          </a:p>
        </p:txBody>
      </p:sp>
      <p:pic>
        <p:nvPicPr>
          <p:cNvPr id="14" name="圖片 13">
            <a:extLst>
              <a:ext uri="{FF2B5EF4-FFF2-40B4-BE49-F238E27FC236}">
                <a16:creationId xmlns:a16="http://schemas.microsoft.com/office/drawing/2014/main" id="{5D726D37-DF73-73CA-0BBC-8C5D2FBDAC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490" y="1916736"/>
            <a:ext cx="7107021" cy="3821139"/>
          </a:xfrm>
          <a:prstGeom prst="rect">
            <a:avLst/>
          </a:prstGeom>
        </p:spPr>
      </p:pic>
    </p:spTree>
    <p:extLst>
      <p:ext uri="{BB962C8B-B14F-4D97-AF65-F5344CB8AC3E}">
        <p14:creationId xmlns:p14="http://schemas.microsoft.com/office/powerpoint/2010/main" val="3837521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C3669-BCEB-153A-20DD-DBDA32D8569A}"/>
            </a:ext>
          </a:extLst>
        </p:cNvPr>
        <p:cNvGrpSpPr/>
        <p:nvPr/>
      </p:nvGrpSpPr>
      <p:grpSpPr>
        <a:xfrm>
          <a:off x="0" y="0"/>
          <a:ext cx="0" cy="0"/>
          <a:chOff x="0" y="0"/>
          <a:chExt cx="0" cy="0"/>
        </a:xfrm>
      </p:grpSpPr>
      <p:grpSp>
        <p:nvGrpSpPr>
          <p:cNvPr id="23" name="群組 22">
            <a:extLst>
              <a:ext uri="{FF2B5EF4-FFF2-40B4-BE49-F238E27FC236}">
                <a16:creationId xmlns:a16="http://schemas.microsoft.com/office/drawing/2014/main" id="{289266E4-94F9-AE93-B49F-522242B0C64A}"/>
              </a:ext>
            </a:extLst>
          </p:cNvPr>
          <p:cNvGrpSpPr/>
          <p:nvPr/>
        </p:nvGrpSpPr>
        <p:grpSpPr>
          <a:xfrm>
            <a:off x="2996682" y="1489507"/>
            <a:ext cx="3270638" cy="2459736"/>
            <a:chOff x="4056223" y="1489507"/>
            <a:chExt cx="3270638" cy="2459736"/>
          </a:xfrm>
        </p:grpSpPr>
        <p:pic>
          <p:nvPicPr>
            <p:cNvPr id="19" name="圖片 18" descr="一張含有 文字, 螢幕擷取畫面, 圖表 的圖片&#10;&#10;AI 產生的內容可能不正確。">
              <a:extLst>
                <a:ext uri="{FF2B5EF4-FFF2-40B4-BE49-F238E27FC236}">
                  <a16:creationId xmlns:a16="http://schemas.microsoft.com/office/drawing/2014/main" id="{9B936601-244B-1184-9B19-7E4220446AF4}"/>
                </a:ext>
              </a:extLst>
            </p:cNvPr>
            <p:cNvPicPr>
              <a:picLocks noChangeAspect="1"/>
            </p:cNvPicPr>
            <p:nvPr/>
          </p:nvPicPr>
          <p:blipFill>
            <a:blip r:embed="rId3"/>
            <a:stretch>
              <a:fillRect/>
            </a:stretch>
          </p:blipFill>
          <p:spPr>
            <a:xfrm>
              <a:off x="4056223" y="1489507"/>
              <a:ext cx="3270638" cy="2459736"/>
            </a:xfrm>
            <a:prstGeom prst="rect">
              <a:avLst/>
            </a:prstGeom>
          </p:spPr>
        </p:pic>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28505AE2-63E1-78B3-7B81-4C7FEA9DF87B}"/>
                    </a:ext>
                  </a:extLst>
                </p:cNvPr>
                <p:cNvSpPr txBox="1"/>
                <p:nvPr/>
              </p:nvSpPr>
              <p:spPr>
                <a:xfrm>
                  <a:off x="4391880" y="1661896"/>
                  <a:ext cx="1712687" cy="369332"/>
                </a:xfrm>
                <a:prstGeom prst="rect">
                  <a:avLst/>
                </a:prstGeom>
                <a:noFill/>
              </p:spPr>
              <p:txBody>
                <a:bodyPr wrap="square">
                  <a:spAutoFit/>
                </a:bodyPr>
                <a:lstStyle/>
                <a:p>
                  <a14:m>
                    <m:oMath xmlns:m="http://schemas.openxmlformats.org/officeDocument/2006/math">
                      <m:sSub>
                        <m:sSubPr>
                          <m:ctrlPr>
                            <a:rPr lang="en-US" altLang="zh-TW" sz="1800" b="1" i="1" dirty="0" smtClean="0">
                              <a:solidFill>
                                <a:srgbClr val="C00000"/>
                              </a:solidFill>
                              <a:latin typeface="Cambria Math" panose="02040503050406030204" pitchFamily="18" charset="0"/>
                            </a:rPr>
                          </m:ctrlPr>
                        </m:sSubPr>
                        <m:e>
                          <m:r>
                            <a:rPr lang="en-US" altLang="zh-TW" sz="1800" b="1" i="1" dirty="0" smtClean="0">
                              <a:solidFill>
                                <a:srgbClr val="C00000"/>
                              </a:solidFill>
                              <a:latin typeface="Cambria Math" panose="02040503050406030204" pitchFamily="18" charset="0"/>
                            </a:rPr>
                            <m:t>𝝀</m:t>
                          </m:r>
                        </m:e>
                        <m:sub>
                          <m:r>
                            <a:rPr lang="en-US" altLang="zh-TW" sz="1800" b="1" i="1" dirty="0" smtClean="0">
                              <a:solidFill>
                                <a:srgbClr val="C00000"/>
                              </a:solidFill>
                              <a:latin typeface="Cambria Math" panose="02040503050406030204" pitchFamily="18" charset="0"/>
                            </a:rPr>
                            <m:t>𝒊𝒅</m:t>
                          </m:r>
                        </m:sub>
                      </m:sSub>
                      <m:r>
                        <a:rPr lang="en-US" altLang="zh-TW" b="1" i="1" dirty="0">
                          <a:solidFill>
                            <a:srgbClr val="C00000"/>
                          </a:solidFill>
                          <a:latin typeface="Cambria Math" panose="02040503050406030204" pitchFamily="18" charset="0"/>
                        </a:rPr>
                        <m:t>=</m:t>
                      </m:r>
                      <m:r>
                        <a:rPr lang="en-US" altLang="zh-TW" b="1" i="1" dirty="0" smtClean="0">
                          <a:solidFill>
                            <a:srgbClr val="C00000"/>
                          </a:solidFill>
                          <a:latin typeface="Cambria Math" panose="02040503050406030204" pitchFamily="18" charset="0"/>
                        </a:rPr>
                        <m:t> </m:t>
                      </m:r>
                      <m:r>
                        <a:rPr lang="en-US" altLang="zh-TW" b="1" i="1" dirty="0" smtClean="0">
                          <a:solidFill>
                            <a:srgbClr val="C00000"/>
                          </a:solidFill>
                          <a:latin typeface="Cambria Math" panose="02040503050406030204" pitchFamily="18" charset="0"/>
                        </a:rPr>
                        <m:t>𝟏𝟎</m:t>
                      </m:r>
                      <m:r>
                        <a:rPr lang="en-US" altLang="zh-TW" b="1" i="1" dirty="0" smtClean="0">
                          <a:solidFill>
                            <a:srgbClr val="C00000"/>
                          </a:solidFill>
                          <a:latin typeface="Cambria Math" panose="02040503050406030204" pitchFamily="18" charset="0"/>
                        </a:rPr>
                        <m:t>.</m:t>
                      </m:r>
                      <m:r>
                        <a:rPr lang="en-US" altLang="zh-TW" b="1" i="1" dirty="0" smtClean="0">
                          <a:solidFill>
                            <a:srgbClr val="C00000"/>
                          </a:solidFill>
                          <a:latin typeface="Cambria Math" panose="02040503050406030204" pitchFamily="18" charset="0"/>
                        </a:rPr>
                        <m:t>𝟎</m:t>
                      </m:r>
                      <m:r>
                        <a:rPr lang="zh-TW" altLang="en-US" b="1" i="1" dirty="0" smtClean="0">
                          <a:solidFill>
                            <a:srgbClr val="C00000"/>
                          </a:solidFill>
                          <a:latin typeface="Cambria Math" panose="02040503050406030204" pitchFamily="18" charset="0"/>
                        </a:rPr>
                        <m:t> </m:t>
                      </m:r>
                    </m:oMath>
                  </a14:m>
                  <a:r>
                    <a:rPr lang="zh-TW" altLang="en-US" dirty="0"/>
                    <a:t> </a:t>
                  </a:r>
                </a:p>
              </p:txBody>
            </p:sp>
          </mc:Choice>
          <mc:Fallback xmlns="">
            <p:sp>
              <p:nvSpPr>
                <p:cNvPr id="22" name="文字方塊 21">
                  <a:extLst>
                    <a:ext uri="{FF2B5EF4-FFF2-40B4-BE49-F238E27FC236}">
                      <a16:creationId xmlns:a16="http://schemas.microsoft.com/office/drawing/2014/main" id="{28505AE2-63E1-78B3-7B81-4C7FEA9DF87B}"/>
                    </a:ext>
                  </a:extLst>
                </p:cNvPr>
                <p:cNvSpPr txBox="1">
                  <a:spLocks noRot="1" noChangeAspect="1" noMove="1" noResize="1" noEditPoints="1" noAdjustHandles="1" noChangeArrowheads="1" noChangeShapeType="1" noTextEdit="1"/>
                </p:cNvSpPr>
                <p:nvPr/>
              </p:nvSpPr>
              <p:spPr>
                <a:xfrm>
                  <a:off x="4391880" y="1661896"/>
                  <a:ext cx="1712687" cy="369332"/>
                </a:xfrm>
                <a:prstGeom prst="rect">
                  <a:avLst/>
                </a:prstGeom>
                <a:blipFill>
                  <a:blip r:embed="rId4"/>
                  <a:stretch>
                    <a:fillRect b="-1667"/>
                  </a:stretch>
                </a:blipFill>
              </p:spPr>
              <p:txBody>
                <a:bodyPr/>
                <a:lstStyle/>
                <a:p>
                  <a:r>
                    <a:rPr lang="zh-TW" altLang="en-US">
                      <a:noFill/>
                    </a:rPr>
                    <a:t> </a:t>
                  </a:r>
                </a:p>
              </p:txBody>
            </p:sp>
          </mc:Fallback>
        </mc:AlternateContent>
      </p:grpSp>
      <p:grpSp>
        <p:nvGrpSpPr>
          <p:cNvPr id="15" name="群組 14">
            <a:extLst>
              <a:ext uri="{FF2B5EF4-FFF2-40B4-BE49-F238E27FC236}">
                <a16:creationId xmlns:a16="http://schemas.microsoft.com/office/drawing/2014/main" id="{BFF588A9-8A77-61F8-2684-D2D2D3ABFC02}"/>
              </a:ext>
            </a:extLst>
          </p:cNvPr>
          <p:cNvGrpSpPr/>
          <p:nvPr/>
        </p:nvGrpSpPr>
        <p:grpSpPr>
          <a:xfrm>
            <a:off x="3062517" y="3810516"/>
            <a:ext cx="3163508" cy="2456307"/>
            <a:chOff x="4815751" y="3060268"/>
            <a:chExt cx="4204271" cy="3264408"/>
          </a:xfrm>
        </p:grpSpPr>
        <p:pic>
          <p:nvPicPr>
            <p:cNvPr id="16" name="圖片 15" descr="一張含有 文字, 螢幕擷取畫面, 圖表, 行 的圖片&#10;&#10;AI 產生的內容可能不正確。">
              <a:extLst>
                <a:ext uri="{FF2B5EF4-FFF2-40B4-BE49-F238E27FC236}">
                  <a16:creationId xmlns:a16="http://schemas.microsoft.com/office/drawing/2014/main" id="{60481947-F056-0E34-426E-D87383632529}"/>
                </a:ext>
              </a:extLst>
            </p:cNvPr>
            <p:cNvPicPr>
              <a:picLocks noChangeAspect="1"/>
            </p:cNvPicPr>
            <p:nvPr/>
          </p:nvPicPr>
          <p:blipFill>
            <a:blip r:embed="rId5"/>
            <a:stretch>
              <a:fillRect/>
            </a:stretch>
          </p:blipFill>
          <p:spPr>
            <a:xfrm>
              <a:off x="4815751" y="3060268"/>
              <a:ext cx="4204271" cy="3264408"/>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4C096BCC-CB60-0D8D-B5B7-41E6BBAEAF90}"/>
                    </a:ext>
                  </a:extLst>
                </p:cNvPr>
                <p:cNvSpPr txBox="1"/>
                <p:nvPr/>
              </p:nvSpPr>
              <p:spPr>
                <a:xfrm>
                  <a:off x="5174342" y="3297312"/>
                  <a:ext cx="2086228" cy="497689"/>
                </a:xfrm>
                <a:prstGeom prst="rect">
                  <a:avLst/>
                </a:prstGeom>
                <a:noFill/>
              </p:spPr>
              <p:txBody>
                <a:bodyPr wrap="square">
                  <a:spAutoFit/>
                </a:bodyPr>
                <a:lstStyle/>
                <a:p>
                  <a14:m>
                    <m:oMath xmlns:m="http://schemas.openxmlformats.org/officeDocument/2006/math">
                      <m:sSub>
                        <m:sSubPr>
                          <m:ctrlPr>
                            <a:rPr lang="en-US" altLang="zh-TW" sz="1800" b="1" i="1" dirty="0" smtClean="0">
                              <a:solidFill>
                                <a:srgbClr val="C00000"/>
                              </a:solidFill>
                              <a:latin typeface="Cambria Math" panose="02040503050406030204" pitchFamily="18" charset="0"/>
                            </a:rPr>
                          </m:ctrlPr>
                        </m:sSubPr>
                        <m:e>
                          <m:r>
                            <a:rPr lang="en-US" altLang="zh-TW" sz="1800" b="1" i="1" dirty="0" smtClean="0">
                              <a:solidFill>
                                <a:srgbClr val="C00000"/>
                              </a:solidFill>
                              <a:latin typeface="Cambria Math" panose="02040503050406030204" pitchFamily="18" charset="0"/>
                            </a:rPr>
                            <m:t>𝝀</m:t>
                          </m:r>
                        </m:e>
                        <m:sub>
                          <m:r>
                            <a:rPr lang="en-US" altLang="zh-TW" sz="1800" b="1" i="1" dirty="0" smtClean="0">
                              <a:solidFill>
                                <a:srgbClr val="C00000"/>
                              </a:solidFill>
                              <a:latin typeface="Cambria Math" panose="02040503050406030204" pitchFamily="18" charset="0"/>
                            </a:rPr>
                            <m:t>𝒊𝒅</m:t>
                          </m:r>
                        </m:sub>
                      </m:sSub>
                      <m:r>
                        <a:rPr lang="en-US" altLang="zh-TW" b="1" i="1" dirty="0">
                          <a:solidFill>
                            <a:srgbClr val="C00000"/>
                          </a:solidFill>
                          <a:latin typeface="Cambria Math" panose="02040503050406030204" pitchFamily="18" charset="0"/>
                        </a:rPr>
                        <m:t>=</m:t>
                      </m:r>
                      <m:r>
                        <a:rPr lang="en-US" altLang="zh-TW" b="1" i="1" dirty="0" smtClean="0">
                          <a:solidFill>
                            <a:srgbClr val="C00000"/>
                          </a:solidFill>
                          <a:latin typeface="Cambria Math" panose="02040503050406030204" pitchFamily="18" charset="0"/>
                        </a:rPr>
                        <m:t>𝟑𝟓</m:t>
                      </m:r>
                      <m:r>
                        <a:rPr lang="en-US" altLang="zh-TW" b="1" i="1" dirty="0" smtClean="0">
                          <a:solidFill>
                            <a:srgbClr val="C00000"/>
                          </a:solidFill>
                          <a:latin typeface="Cambria Math" panose="02040503050406030204" pitchFamily="18" charset="0"/>
                        </a:rPr>
                        <m:t>.</m:t>
                      </m:r>
                      <m:r>
                        <a:rPr lang="en-US" altLang="zh-TW" b="1" i="1" dirty="0" smtClean="0">
                          <a:solidFill>
                            <a:srgbClr val="C00000"/>
                          </a:solidFill>
                          <a:latin typeface="Cambria Math" panose="02040503050406030204" pitchFamily="18" charset="0"/>
                        </a:rPr>
                        <m:t>𝟎</m:t>
                      </m:r>
                      <m:r>
                        <a:rPr lang="zh-TW" altLang="en-US" b="1" i="1" dirty="0" smtClean="0">
                          <a:solidFill>
                            <a:srgbClr val="C00000"/>
                          </a:solidFill>
                          <a:latin typeface="Cambria Math" panose="02040503050406030204" pitchFamily="18" charset="0"/>
                        </a:rPr>
                        <m:t> </m:t>
                      </m:r>
                    </m:oMath>
                  </a14:m>
                  <a:r>
                    <a:rPr lang="zh-TW" altLang="en-US" dirty="0"/>
                    <a:t> </a:t>
                  </a:r>
                </a:p>
              </p:txBody>
            </p:sp>
          </mc:Choice>
          <mc:Fallback xmlns="">
            <p:sp>
              <p:nvSpPr>
                <p:cNvPr id="17" name="文字方塊 16">
                  <a:extLst>
                    <a:ext uri="{FF2B5EF4-FFF2-40B4-BE49-F238E27FC236}">
                      <a16:creationId xmlns:a16="http://schemas.microsoft.com/office/drawing/2014/main" id="{4C096BCC-CB60-0D8D-B5B7-41E6BBAEAF90}"/>
                    </a:ext>
                  </a:extLst>
                </p:cNvPr>
                <p:cNvSpPr txBox="1">
                  <a:spLocks noRot="1" noChangeAspect="1" noMove="1" noResize="1" noEditPoints="1" noAdjustHandles="1" noChangeArrowheads="1" noChangeShapeType="1" noTextEdit="1"/>
                </p:cNvSpPr>
                <p:nvPr/>
              </p:nvSpPr>
              <p:spPr>
                <a:xfrm>
                  <a:off x="5174342" y="3297312"/>
                  <a:ext cx="2086228" cy="497689"/>
                </a:xfrm>
                <a:prstGeom prst="rect">
                  <a:avLst/>
                </a:prstGeom>
                <a:blipFill>
                  <a:blip r:embed="rId6"/>
                  <a:stretch>
                    <a:fillRect/>
                  </a:stretch>
                </a:blipFill>
              </p:spPr>
              <p:txBody>
                <a:bodyPr/>
                <a:lstStyle/>
                <a:p>
                  <a:r>
                    <a:rPr lang="zh-TW" altLang="en-US">
                      <a:noFill/>
                    </a:rPr>
                    <a:t> </a:t>
                  </a:r>
                </a:p>
              </p:txBody>
            </p:sp>
          </mc:Fallback>
        </mc:AlternateContent>
      </p:grpSp>
      <p:sp>
        <p:nvSpPr>
          <p:cNvPr id="5" name="日期版面配置區 4">
            <a:extLst>
              <a:ext uri="{FF2B5EF4-FFF2-40B4-BE49-F238E27FC236}">
                <a16:creationId xmlns:a16="http://schemas.microsoft.com/office/drawing/2014/main" id="{38ED7A44-5EE7-505D-F98A-FF0CA7B3AD8C}"/>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58F861FB-86D3-4DAF-38AC-072D1E1D7A8D}"/>
              </a:ext>
            </a:extLst>
          </p:cNvPr>
          <p:cNvSpPr>
            <a:spLocks noGrp="1"/>
          </p:cNvSpPr>
          <p:nvPr>
            <p:ph type="title"/>
          </p:nvPr>
        </p:nvSpPr>
        <p:spPr>
          <a:xfrm>
            <a:off x="457200" y="230188"/>
            <a:ext cx="5194300" cy="849312"/>
          </a:xfrm>
        </p:spPr>
        <p:txBody>
          <a:bodyPr/>
          <a:lstStyle/>
          <a:p>
            <a:r>
              <a:rPr lang="en-US" altLang="zh-TW" dirty="0" err="1"/>
              <a:t>PerturbVerse</a:t>
            </a:r>
            <a:endParaRPr lang="zh-TW" altLang="en-US" dirty="0"/>
          </a:p>
        </p:txBody>
      </p:sp>
      <p:sp>
        <p:nvSpPr>
          <p:cNvPr id="2" name="矩形 1">
            <a:extLst>
              <a:ext uri="{FF2B5EF4-FFF2-40B4-BE49-F238E27FC236}">
                <a16:creationId xmlns:a16="http://schemas.microsoft.com/office/drawing/2014/main" id="{218B0DAD-F4E7-CA94-2756-A95611A781FE}"/>
              </a:ext>
            </a:extLst>
          </p:cNvPr>
          <p:cNvSpPr/>
          <p:nvPr/>
        </p:nvSpPr>
        <p:spPr>
          <a:xfrm>
            <a:off x="431633" y="90420"/>
            <a:ext cx="2976880" cy="309883"/>
          </a:xfrm>
          <a:prstGeom prst="rect">
            <a:avLst/>
          </a:prstGeom>
          <a:solidFill>
            <a:srgbClr val="FFFFFF">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CC5F80D6-0801-C392-66F7-3E1BA1B7E96F}"/>
              </a:ext>
            </a:extLst>
          </p:cNvPr>
          <p:cNvSpPr>
            <a:spLocks noGrp="1"/>
          </p:cNvSpPr>
          <p:nvPr>
            <p:ph type="sldNum" sz="quarter" idx="4"/>
          </p:nvPr>
        </p:nvSpPr>
        <p:spPr/>
        <p:txBody>
          <a:bodyPr/>
          <a:lstStyle/>
          <a:p>
            <a:fld id="{73DA0BB7-265A-403C-9275-D587AB510EDC}" type="slidenum">
              <a:rPr lang="zh-TW" altLang="en-US" smtClean="0"/>
              <a:pPr/>
              <a:t>11</a:t>
            </a:fld>
            <a:endParaRPr lang="zh-TW" altLang="en-US" dirty="0"/>
          </a:p>
        </p:txBody>
      </p:sp>
      <p:sp>
        <p:nvSpPr>
          <p:cNvPr id="21" name="頁尾版面配置區 3">
            <a:extLst>
              <a:ext uri="{FF2B5EF4-FFF2-40B4-BE49-F238E27FC236}">
                <a16:creationId xmlns:a16="http://schemas.microsoft.com/office/drawing/2014/main" id="{AE74DE6A-A2C1-7F60-68EC-A5DE79061E95}"/>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0" name="文字方塊 9">
            <a:extLst>
              <a:ext uri="{FF2B5EF4-FFF2-40B4-BE49-F238E27FC236}">
                <a16:creationId xmlns:a16="http://schemas.microsoft.com/office/drawing/2014/main" id="{C4A84D7B-7C05-9589-29C7-2D63835B461D}"/>
              </a:ext>
            </a:extLst>
          </p:cNvPr>
          <p:cNvSpPr txBox="1"/>
          <p:nvPr/>
        </p:nvSpPr>
        <p:spPr>
          <a:xfrm>
            <a:off x="268513" y="1237540"/>
            <a:ext cx="5805715"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Model Performance Evaluation </a:t>
            </a:r>
            <a:endParaRPr lang="zh-TW" altLang="en-US" dirty="0"/>
          </a:p>
        </p:txBody>
      </p:sp>
      <p:pic>
        <p:nvPicPr>
          <p:cNvPr id="8" name="圖片 7">
            <a:extLst>
              <a:ext uri="{FF2B5EF4-FFF2-40B4-BE49-F238E27FC236}">
                <a16:creationId xmlns:a16="http://schemas.microsoft.com/office/drawing/2014/main" id="{D5BF63D3-2535-A72B-0ECE-5357C54CCCB5}"/>
              </a:ext>
            </a:extLst>
          </p:cNvPr>
          <p:cNvPicPr>
            <a:picLocks noChangeAspect="1"/>
          </p:cNvPicPr>
          <p:nvPr/>
        </p:nvPicPr>
        <p:blipFill>
          <a:blip r:embed="rId7"/>
          <a:stretch>
            <a:fillRect/>
          </a:stretch>
        </p:blipFill>
        <p:spPr>
          <a:xfrm>
            <a:off x="93070" y="1783055"/>
            <a:ext cx="2964094" cy="2286000"/>
          </a:xfrm>
          <a:prstGeom prst="rect">
            <a:avLst/>
          </a:prstGeom>
        </p:spPr>
      </p:pic>
      <p:pic>
        <p:nvPicPr>
          <p:cNvPr id="12" name="圖片 11">
            <a:extLst>
              <a:ext uri="{FF2B5EF4-FFF2-40B4-BE49-F238E27FC236}">
                <a16:creationId xmlns:a16="http://schemas.microsoft.com/office/drawing/2014/main" id="{7AA1DF22-C19F-46AC-69FA-13A0EF774175}"/>
              </a:ext>
            </a:extLst>
          </p:cNvPr>
          <p:cNvPicPr>
            <a:picLocks noChangeAspect="1"/>
          </p:cNvPicPr>
          <p:nvPr/>
        </p:nvPicPr>
        <p:blipFill>
          <a:blip r:embed="rId8"/>
          <a:stretch>
            <a:fillRect/>
          </a:stretch>
        </p:blipFill>
        <p:spPr>
          <a:xfrm>
            <a:off x="-3798" y="3912574"/>
            <a:ext cx="3051425" cy="2286000"/>
          </a:xfrm>
          <a:prstGeom prst="rect">
            <a:avLst/>
          </a:prstGeom>
        </p:spPr>
      </p:pic>
      <p:pic>
        <p:nvPicPr>
          <p:cNvPr id="29" name="圖片 28">
            <a:extLst>
              <a:ext uri="{FF2B5EF4-FFF2-40B4-BE49-F238E27FC236}">
                <a16:creationId xmlns:a16="http://schemas.microsoft.com/office/drawing/2014/main" id="{F41D9FA7-3AA4-D305-6786-2BF94519270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72864" y="1815777"/>
            <a:ext cx="3164266" cy="1863593"/>
          </a:xfrm>
          <a:prstGeom prst="rect">
            <a:avLst/>
          </a:prstGeom>
        </p:spPr>
      </p:pic>
      <p:pic>
        <p:nvPicPr>
          <p:cNvPr id="34" name="圖片 33">
            <a:extLst>
              <a:ext uri="{FF2B5EF4-FFF2-40B4-BE49-F238E27FC236}">
                <a16:creationId xmlns:a16="http://schemas.microsoft.com/office/drawing/2014/main" id="{1739C54E-3FB9-D447-B09B-645106E4568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993882" y="4136956"/>
            <a:ext cx="3122230" cy="1865376"/>
          </a:xfrm>
          <a:prstGeom prst="rect">
            <a:avLst/>
          </a:prstGeom>
        </p:spPr>
      </p:pic>
      <p:sp>
        <p:nvSpPr>
          <p:cNvPr id="36" name="文字方塊 35">
            <a:extLst>
              <a:ext uri="{FF2B5EF4-FFF2-40B4-BE49-F238E27FC236}">
                <a16:creationId xmlns:a16="http://schemas.microsoft.com/office/drawing/2014/main" id="{3917EE7B-DC55-7AA2-70E3-83EFC574EF83}"/>
              </a:ext>
            </a:extLst>
          </p:cNvPr>
          <p:cNvSpPr txBox="1"/>
          <p:nvPr/>
        </p:nvSpPr>
        <p:spPr>
          <a:xfrm>
            <a:off x="6990443" y="1538318"/>
            <a:ext cx="1318986" cy="307777"/>
          </a:xfrm>
          <a:prstGeom prst="rect">
            <a:avLst/>
          </a:prstGeom>
          <a:noFill/>
        </p:spPr>
        <p:txBody>
          <a:bodyPr wrap="square">
            <a:spAutoFit/>
          </a:bodyPr>
          <a:lstStyle/>
          <a:p>
            <a:r>
              <a:rPr lang="en-US" altLang="zh-TW" sz="1400" dirty="0"/>
              <a:t>All Samples Avg.</a:t>
            </a:r>
            <a:endParaRPr lang="zh-TW" altLang="en-US" sz="1400" dirty="0"/>
          </a:p>
        </p:txBody>
      </p:sp>
      <p:sp>
        <p:nvSpPr>
          <p:cNvPr id="38" name="文字方塊 37">
            <a:extLst>
              <a:ext uri="{FF2B5EF4-FFF2-40B4-BE49-F238E27FC236}">
                <a16:creationId xmlns:a16="http://schemas.microsoft.com/office/drawing/2014/main" id="{C4E950B3-0B89-DBD0-43F6-6E414C3B49A7}"/>
              </a:ext>
            </a:extLst>
          </p:cNvPr>
          <p:cNvSpPr txBox="1"/>
          <p:nvPr/>
        </p:nvSpPr>
        <p:spPr>
          <a:xfrm>
            <a:off x="6990443" y="3866504"/>
            <a:ext cx="1318986" cy="307777"/>
          </a:xfrm>
          <a:prstGeom prst="rect">
            <a:avLst/>
          </a:prstGeom>
          <a:noFill/>
        </p:spPr>
        <p:txBody>
          <a:bodyPr wrap="square">
            <a:spAutoFit/>
          </a:bodyPr>
          <a:lstStyle/>
          <a:p>
            <a:r>
              <a:rPr lang="en-US" altLang="zh-TW" sz="1400" dirty="0"/>
              <a:t>All Samples Avg.</a:t>
            </a:r>
            <a:endParaRPr lang="zh-TW" altLang="en-US" sz="1400" dirty="0"/>
          </a:p>
        </p:txBody>
      </p:sp>
    </p:spTree>
    <p:extLst>
      <p:ext uri="{BB962C8B-B14F-4D97-AF65-F5344CB8AC3E}">
        <p14:creationId xmlns:p14="http://schemas.microsoft.com/office/powerpoint/2010/main" val="821089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BABC-AE83-EBB4-6616-85BEF9589445}"/>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0C5F89D8-CCB0-25C1-0227-5822BAB70408}"/>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098BB3DE-9561-BD1A-25EF-7BC8C6C50A4C}"/>
              </a:ext>
            </a:extLst>
          </p:cNvPr>
          <p:cNvSpPr>
            <a:spLocks noGrp="1"/>
          </p:cNvSpPr>
          <p:nvPr>
            <p:ph type="title"/>
          </p:nvPr>
        </p:nvSpPr>
        <p:spPr>
          <a:xfrm>
            <a:off x="457200" y="230188"/>
            <a:ext cx="5194300" cy="849312"/>
          </a:xfrm>
        </p:spPr>
        <p:txBody>
          <a:bodyPr/>
          <a:lstStyle/>
          <a:p>
            <a:r>
              <a:rPr lang="en-US" altLang="zh-TW" dirty="0" err="1"/>
              <a:t>PerturbVerse</a:t>
            </a:r>
            <a:endParaRPr lang="zh-TW" altLang="en-US" dirty="0"/>
          </a:p>
        </p:txBody>
      </p:sp>
      <p:sp>
        <p:nvSpPr>
          <p:cNvPr id="2" name="矩形 1">
            <a:extLst>
              <a:ext uri="{FF2B5EF4-FFF2-40B4-BE49-F238E27FC236}">
                <a16:creationId xmlns:a16="http://schemas.microsoft.com/office/drawing/2014/main" id="{9E6B7625-746D-411F-FF1F-DADEEB87B601}"/>
              </a:ext>
            </a:extLst>
          </p:cNvPr>
          <p:cNvSpPr/>
          <p:nvPr/>
        </p:nvSpPr>
        <p:spPr>
          <a:xfrm>
            <a:off x="431633" y="90420"/>
            <a:ext cx="2976880" cy="309883"/>
          </a:xfrm>
          <a:prstGeom prst="rect">
            <a:avLst/>
          </a:prstGeom>
          <a:solidFill>
            <a:srgbClr val="FFFFFF">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4D7323E7-4CAF-5FB5-F47A-9C8A6247F241}"/>
              </a:ext>
            </a:extLst>
          </p:cNvPr>
          <p:cNvSpPr>
            <a:spLocks noGrp="1"/>
          </p:cNvSpPr>
          <p:nvPr>
            <p:ph type="sldNum" sz="quarter" idx="4"/>
          </p:nvPr>
        </p:nvSpPr>
        <p:spPr/>
        <p:txBody>
          <a:bodyPr/>
          <a:lstStyle/>
          <a:p>
            <a:fld id="{73DA0BB7-265A-403C-9275-D587AB510EDC}" type="slidenum">
              <a:rPr lang="zh-TW" altLang="en-US" smtClean="0"/>
              <a:pPr/>
              <a:t>12</a:t>
            </a:fld>
            <a:endParaRPr lang="zh-TW" altLang="en-US" dirty="0"/>
          </a:p>
        </p:txBody>
      </p:sp>
      <p:sp>
        <p:nvSpPr>
          <p:cNvPr id="21" name="頁尾版面配置區 3">
            <a:extLst>
              <a:ext uri="{FF2B5EF4-FFF2-40B4-BE49-F238E27FC236}">
                <a16:creationId xmlns:a16="http://schemas.microsoft.com/office/drawing/2014/main" id="{627242D9-1D43-5109-7DE0-D65EA4B80BAA}"/>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0" name="文字方塊 9">
            <a:extLst>
              <a:ext uri="{FF2B5EF4-FFF2-40B4-BE49-F238E27FC236}">
                <a16:creationId xmlns:a16="http://schemas.microsoft.com/office/drawing/2014/main" id="{F341ED52-05B8-92A6-502C-BB68768E1298}"/>
              </a:ext>
            </a:extLst>
          </p:cNvPr>
          <p:cNvSpPr txBox="1"/>
          <p:nvPr/>
        </p:nvSpPr>
        <p:spPr>
          <a:xfrm>
            <a:off x="268513" y="1237540"/>
            <a:ext cx="5805715"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Further Evaluation on Simulation Data</a:t>
            </a:r>
            <a:endParaRPr lang="zh-TW" altLang="en-US" dirty="0"/>
          </a:p>
        </p:txBody>
      </p:sp>
      <p:pic>
        <p:nvPicPr>
          <p:cNvPr id="20" name="圖片 19">
            <a:extLst>
              <a:ext uri="{FF2B5EF4-FFF2-40B4-BE49-F238E27FC236}">
                <a16:creationId xmlns:a16="http://schemas.microsoft.com/office/drawing/2014/main" id="{95BD6D1A-068A-BB57-6DC4-62E539299E5A}"/>
              </a:ext>
            </a:extLst>
          </p:cNvPr>
          <p:cNvPicPr>
            <a:picLocks noChangeAspect="1"/>
          </p:cNvPicPr>
          <p:nvPr/>
        </p:nvPicPr>
        <p:blipFill>
          <a:blip r:embed="rId3"/>
          <a:stretch>
            <a:fillRect/>
          </a:stretch>
        </p:blipFill>
        <p:spPr>
          <a:xfrm>
            <a:off x="81094" y="2045356"/>
            <a:ext cx="4395834" cy="4258464"/>
          </a:xfrm>
          <a:prstGeom prst="rect">
            <a:avLst/>
          </a:prstGeom>
        </p:spPr>
      </p:pic>
      <p:pic>
        <p:nvPicPr>
          <p:cNvPr id="25" name="圖片 24">
            <a:extLst>
              <a:ext uri="{FF2B5EF4-FFF2-40B4-BE49-F238E27FC236}">
                <a16:creationId xmlns:a16="http://schemas.microsoft.com/office/drawing/2014/main" id="{F0EE917E-0B07-EEE8-AFE2-21B6D70B2969}"/>
              </a:ext>
            </a:extLst>
          </p:cNvPr>
          <p:cNvPicPr>
            <a:picLocks noChangeAspect="1"/>
          </p:cNvPicPr>
          <p:nvPr/>
        </p:nvPicPr>
        <p:blipFill>
          <a:blip r:embed="rId4"/>
          <a:stretch>
            <a:fillRect/>
          </a:stretch>
        </p:blipFill>
        <p:spPr>
          <a:xfrm>
            <a:off x="4664347" y="2045356"/>
            <a:ext cx="4398559" cy="4261104"/>
          </a:xfrm>
          <a:prstGeom prst="rect">
            <a:avLst/>
          </a:prstGeom>
        </p:spPr>
      </p:pic>
      <p:sp>
        <p:nvSpPr>
          <p:cNvPr id="27" name="文字方塊 26">
            <a:extLst>
              <a:ext uri="{FF2B5EF4-FFF2-40B4-BE49-F238E27FC236}">
                <a16:creationId xmlns:a16="http://schemas.microsoft.com/office/drawing/2014/main" id="{F01D5E48-106A-9E06-1B33-9E78BF5B3F3B}"/>
              </a:ext>
            </a:extLst>
          </p:cNvPr>
          <p:cNvSpPr txBox="1"/>
          <p:nvPr/>
        </p:nvSpPr>
        <p:spPr>
          <a:xfrm>
            <a:off x="431633" y="1699186"/>
            <a:ext cx="3918858" cy="369332"/>
          </a:xfrm>
          <a:prstGeom prst="rect">
            <a:avLst/>
          </a:prstGeom>
          <a:noFill/>
        </p:spPr>
        <p:txBody>
          <a:bodyPr wrap="square">
            <a:spAutoFit/>
          </a:bodyPr>
          <a:lstStyle/>
          <a:p>
            <a:r>
              <a:rPr lang="en-US" altLang="zh-TW" sz="1800" dirty="0"/>
              <a:t>Phenotype permutation (Self-contained)</a:t>
            </a:r>
            <a:endParaRPr lang="zh-TW" altLang="en-US" dirty="0"/>
          </a:p>
        </p:txBody>
      </p:sp>
      <p:sp>
        <p:nvSpPr>
          <p:cNvPr id="29" name="文字方塊 28">
            <a:extLst>
              <a:ext uri="{FF2B5EF4-FFF2-40B4-BE49-F238E27FC236}">
                <a16:creationId xmlns:a16="http://schemas.microsoft.com/office/drawing/2014/main" id="{8A44F15C-D37B-AF2A-2614-EBD95E969157}"/>
              </a:ext>
            </a:extLst>
          </p:cNvPr>
          <p:cNvSpPr txBox="1"/>
          <p:nvPr/>
        </p:nvSpPr>
        <p:spPr>
          <a:xfrm>
            <a:off x="5297714" y="1699186"/>
            <a:ext cx="4572000" cy="369332"/>
          </a:xfrm>
          <a:prstGeom prst="rect">
            <a:avLst/>
          </a:prstGeom>
          <a:noFill/>
        </p:spPr>
        <p:txBody>
          <a:bodyPr wrap="square">
            <a:spAutoFit/>
          </a:bodyPr>
          <a:lstStyle/>
          <a:p>
            <a:r>
              <a:rPr lang="en-US" altLang="zh-TW" sz="1800" dirty="0"/>
              <a:t>Gene set permutation (Competitive)</a:t>
            </a:r>
            <a:endParaRPr lang="zh-TW" altLang="en-US" dirty="0"/>
          </a:p>
        </p:txBody>
      </p:sp>
    </p:spTree>
    <p:extLst>
      <p:ext uri="{BB962C8B-B14F-4D97-AF65-F5344CB8AC3E}">
        <p14:creationId xmlns:p14="http://schemas.microsoft.com/office/powerpoint/2010/main" val="1065707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446FD-1632-8112-61BA-297DC8624E33}"/>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87AD55BB-3C42-C163-6638-76A8783418DE}"/>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43364963-1CE9-F1EF-A6ED-50DB312545C1}"/>
              </a:ext>
            </a:extLst>
          </p:cNvPr>
          <p:cNvSpPr>
            <a:spLocks noGrp="1"/>
          </p:cNvSpPr>
          <p:nvPr>
            <p:ph type="title"/>
          </p:nvPr>
        </p:nvSpPr>
        <p:spPr>
          <a:xfrm>
            <a:off x="457200" y="230188"/>
            <a:ext cx="5194300" cy="849312"/>
          </a:xfrm>
        </p:spPr>
        <p:txBody>
          <a:bodyPr/>
          <a:lstStyle/>
          <a:p>
            <a:r>
              <a:rPr lang="en-US" altLang="zh-TW" dirty="0" err="1"/>
              <a:t>PerturbVerse</a:t>
            </a:r>
            <a:endParaRPr lang="zh-TW" altLang="en-US" dirty="0"/>
          </a:p>
        </p:txBody>
      </p:sp>
      <p:sp>
        <p:nvSpPr>
          <p:cNvPr id="2" name="矩形 1">
            <a:extLst>
              <a:ext uri="{FF2B5EF4-FFF2-40B4-BE49-F238E27FC236}">
                <a16:creationId xmlns:a16="http://schemas.microsoft.com/office/drawing/2014/main" id="{A6B28810-54A3-AA9D-5898-D719EAC537D0}"/>
              </a:ext>
            </a:extLst>
          </p:cNvPr>
          <p:cNvSpPr/>
          <p:nvPr/>
        </p:nvSpPr>
        <p:spPr>
          <a:xfrm>
            <a:off x="431633" y="90420"/>
            <a:ext cx="2976880" cy="309883"/>
          </a:xfrm>
          <a:prstGeom prst="rect">
            <a:avLst/>
          </a:prstGeom>
          <a:solidFill>
            <a:srgbClr val="FFFFFF">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BB887717-84EB-EAF8-2594-C6026085C590}"/>
              </a:ext>
            </a:extLst>
          </p:cNvPr>
          <p:cNvSpPr>
            <a:spLocks noGrp="1"/>
          </p:cNvSpPr>
          <p:nvPr>
            <p:ph type="sldNum" sz="quarter" idx="4"/>
          </p:nvPr>
        </p:nvSpPr>
        <p:spPr/>
        <p:txBody>
          <a:bodyPr/>
          <a:lstStyle/>
          <a:p>
            <a:fld id="{73DA0BB7-265A-403C-9275-D587AB510EDC}" type="slidenum">
              <a:rPr lang="zh-TW" altLang="en-US" smtClean="0"/>
              <a:pPr/>
              <a:t>13</a:t>
            </a:fld>
            <a:endParaRPr lang="zh-TW" altLang="en-US" dirty="0"/>
          </a:p>
        </p:txBody>
      </p:sp>
      <p:sp>
        <p:nvSpPr>
          <p:cNvPr id="21" name="頁尾版面配置區 3">
            <a:extLst>
              <a:ext uri="{FF2B5EF4-FFF2-40B4-BE49-F238E27FC236}">
                <a16:creationId xmlns:a16="http://schemas.microsoft.com/office/drawing/2014/main" id="{83081FBA-9F4E-7635-BF0C-0F594A1279D1}"/>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14" name="文字方塊 13">
            <a:extLst>
              <a:ext uri="{FF2B5EF4-FFF2-40B4-BE49-F238E27FC236}">
                <a16:creationId xmlns:a16="http://schemas.microsoft.com/office/drawing/2014/main" id="{B5330628-5927-B964-F60F-39FB7CB37ADF}"/>
              </a:ext>
            </a:extLst>
          </p:cNvPr>
          <p:cNvSpPr txBox="1"/>
          <p:nvPr/>
        </p:nvSpPr>
        <p:spPr>
          <a:xfrm>
            <a:off x="6188856" y="2737600"/>
            <a:ext cx="2880764" cy="830997"/>
          </a:xfrm>
          <a:prstGeom prst="rect">
            <a:avLst/>
          </a:prstGeom>
          <a:noFill/>
        </p:spPr>
        <p:txBody>
          <a:bodyPr wrap="square">
            <a:spAutoFit/>
          </a:bodyPr>
          <a:lstStyle/>
          <a:p>
            <a:pPr algn="ctr"/>
            <a:r>
              <a:rPr lang="en-US" altLang="zh-TW" sz="1200" dirty="0"/>
              <a:t>Sample Size: 32</a:t>
            </a:r>
            <a:r>
              <a:rPr lang="zh-TW" altLang="en-US" sz="1200" dirty="0"/>
              <a:t> </a:t>
            </a:r>
            <a:r>
              <a:rPr lang="en-US" altLang="zh-TW" sz="1200" dirty="0"/>
              <a:t>(Cases: 3), </a:t>
            </a:r>
          </a:p>
          <a:p>
            <a:pPr algn="ctr"/>
            <a:r>
              <a:rPr lang="en-US" altLang="zh-TW" sz="1200" dirty="0"/>
              <a:t>Total Gene Size: 11833,</a:t>
            </a:r>
          </a:p>
          <a:p>
            <a:pPr algn="ctr"/>
            <a:r>
              <a:rPr lang="en-US" altLang="zh-TW" sz="1200" dirty="0"/>
              <a:t>Target Gene Set Size: 1263, </a:t>
            </a:r>
          </a:p>
          <a:p>
            <a:pPr algn="ctr"/>
            <a:r>
              <a:rPr lang="en-US" altLang="zh-TW" sz="1200" dirty="0"/>
              <a:t>Non-target Gene Set Size: 10570</a:t>
            </a:r>
            <a:endParaRPr lang="zh-TW" altLang="en-US" sz="1200" dirty="0"/>
          </a:p>
        </p:txBody>
      </p:sp>
      <p:grpSp>
        <p:nvGrpSpPr>
          <p:cNvPr id="10" name="群組 9">
            <a:extLst>
              <a:ext uri="{FF2B5EF4-FFF2-40B4-BE49-F238E27FC236}">
                <a16:creationId xmlns:a16="http://schemas.microsoft.com/office/drawing/2014/main" id="{BD3977BE-7026-5B65-5445-CFE5F707C1FA}"/>
              </a:ext>
            </a:extLst>
          </p:cNvPr>
          <p:cNvGrpSpPr/>
          <p:nvPr/>
        </p:nvGrpSpPr>
        <p:grpSpPr>
          <a:xfrm>
            <a:off x="579152" y="1789472"/>
            <a:ext cx="5334086" cy="2279062"/>
            <a:chOff x="324610" y="1651317"/>
            <a:chExt cx="5866907" cy="2506717"/>
          </a:xfrm>
        </p:grpSpPr>
        <p:pic>
          <p:nvPicPr>
            <p:cNvPr id="8" name="圖片 7">
              <a:extLst>
                <a:ext uri="{FF2B5EF4-FFF2-40B4-BE49-F238E27FC236}">
                  <a16:creationId xmlns:a16="http://schemas.microsoft.com/office/drawing/2014/main" id="{0C79A33D-2607-AD38-E22D-1841A908515C}"/>
                </a:ext>
              </a:extLst>
            </p:cNvPr>
            <p:cNvPicPr>
              <a:picLocks noChangeAspect="1"/>
            </p:cNvPicPr>
            <p:nvPr/>
          </p:nvPicPr>
          <p:blipFill>
            <a:blip r:embed="rId3"/>
            <a:stretch>
              <a:fillRect/>
            </a:stretch>
          </p:blipFill>
          <p:spPr>
            <a:xfrm>
              <a:off x="3230871" y="1835458"/>
              <a:ext cx="2960646" cy="2322576"/>
            </a:xfrm>
            <a:prstGeom prst="rect">
              <a:avLst/>
            </a:prstGeom>
          </p:spPr>
        </p:pic>
        <p:pic>
          <p:nvPicPr>
            <p:cNvPr id="15" name="圖片 14">
              <a:extLst>
                <a:ext uri="{FF2B5EF4-FFF2-40B4-BE49-F238E27FC236}">
                  <a16:creationId xmlns:a16="http://schemas.microsoft.com/office/drawing/2014/main" id="{E94511F2-8F78-2650-53D3-0ABF3983152E}"/>
                </a:ext>
              </a:extLst>
            </p:cNvPr>
            <p:cNvPicPr>
              <a:picLocks noChangeAspect="1"/>
            </p:cNvPicPr>
            <p:nvPr/>
          </p:nvPicPr>
          <p:blipFill>
            <a:blip r:embed="rId4"/>
            <a:stretch>
              <a:fillRect/>
            </a:stretch>
          </p:blipFill>
          <p:spPr>
            <a:xfrm>
              <a:off x="324610" y="1832578"/>
              <a:ext cx="2964318" cy="2325456"/>
            </a:xfrm>
            <a:prstGeom prst="rect">
              <a:avLst/>
            </a:prstGeom>
          </p:spPr>
        </p:pic>
        <p:grpSp>
          <p:nvGrpSpPr>
            <p:cNvPr id="13" name="群組 12">
              <a:extLst>
                <a:ext uri="{FF2B5EF4-FFF2-40B4-BE49-F238E27FC236}">
                  <a16:creationId xmlns:a16="http://schemas.microsoft.com/office/drawing/2014/main" id="{635A76A8-305A-B713-3D1C-D9D69E65C6FF}"/>
                </a:ext>
              </a:extLst>
            </p:cNvPr>
            <p:cNvGrpSpPr/>
            <p:nvPr/>
          </p:nvGrpSpPr>
          <p:grpSpPr>
            <a:xfrm>
              <a:off x="457200" y="1651317"/>
              <a:ext cx="5647726" cy="750312"/>
              <a:chOff x="-540532" y="2262963"/>
              <a:chExt cx="5647726" cy="750312"/>
            </a:xfrm>
          </p:grpSpPr>
          <p:sp>
            <p:nvSpPr>
              <p:cNvPr id="23" name="文字方塊 22">
                <a:extLst>
                  <a:ext uri="{FF2B5EF4-FFF2-40B4-BE49-F238E27FC236}">
                    <a16:creationId xmlns:a16="http://schemas.microsoft.com/office/drawing/2014/main" id="{FEC12DC1-61F2-8043-AD70-2094F6005CD7}"/>
                  </a:ext>
                </a:extLst>
              </p:cNvPr>
              <p:cNvSpPr txBox="1"/>
              <p:nvPr/>
            </p:nvSpPr>
            <p:spPr>
              <a:xfrm>
                <a:off x="2568860" y="2262963"/>
                <a:ext cx="2538334" cy="461665"/>
              </a:xfrm>
              <a:prstGeom prst="rect">
                <a:avLst/>
              </a:prstGeom>
              <a:noFill/>
            </p:spPr>
            <p:txBody>
              <a:bodyPr wrap="square">
                <a:spAutoFit/>
              </a:bodyPr>
              <a:lstStyle/>
              <a:p>
                <a:pPr algn="ctr"/>
                <a:r>
                  <a:rPr lang="en-US" altLang="zh-TW" sz="1200" dirty="0"/>
                  <a:t>Target Gene Set vs. Total Genes</a:t>
                </a:r>
                <a:endParaRPr lang="zh-TW" altLang="en-US" sz="1200" dirty="0"/>
              </a:p>
              <a:p>
                <a:pPr algn="ctr"/>
                <a:endParaRPr lang="zh-TW" altLang="en-US" sz="1200" dirty="0"/>
              </a:p>
            </p:txBody>
          </p:sp>
          <p:sp>
            <p:nvSpPr>
              <p:cNvPr id="26" name="文字方塊 25">
                <a:extLst>
                  <a:ext uri="{FF2B5EF4-FFF2-40B4-BE49-F238E27FC236}">
                    <a16:creationId xmlns:a16="http://schemas.microsoft.com/office/drawing/2014/main" id="{E7CBF5FA-E060-B5B3-E480-9DB3429D0E0A}"/>
                  </a:ext>
                </a:extLst>
              </p:cNvPr>
              <p:cNvSpPr txBox="1"/>
              <p:nvPr/>
            </p:nvSpPr>
            <p:spPr>
              <a:xfrm>
                <a:off x="-540532" y="2262964"/>
                <a:ext cx="2806242" cy="461665"/>
              </a:xfrm>
              <a:prstGeom prst="rect">
                <a:avLst/>
              </a:prstGeom>
              <a:noFill/>
            </p:spPr>
            <p:txBody>
              <a:bodyPr wrap="square">
                <a:spAutoFit/>
              </a:bodyPr>
              <a:lstStyle/>
              <a:p>
                <a:pPr algn="ctr"/>
                <a:r>
                  <a:rPr lang="en-US" altLang="zh-TW" sz="1200" dirty="0"/>
                  <a:t>Non-target Gene Set vs. Total Genes</a:t>
                </a:r>
                <a:endParaRPr lang="zh-TW" altLang="en-US" sz="1200" dirty="0"/>
              </a:p>
              <a:p>
                <a:pPr algn="ctr"/>
                <a:endParaRPr lang="zh-TW" altLang="en-US" sz="1200" dirty="0"/>
              </a:p>
            </p:txBody>
          </p:sp>
          <p:sp>
            <p:nvSpPr>
              <p:cNvPr id="9" name="文字方塊 8">
                <a:extLst>
                  <a:ext uri="{FF2B5EF4-FFF2-40B4-BE49-F238E27FC236}">
                    <a16:creationId xmlns:a16="http://schemas.microsoft.com/office/drawing/2014/main" id="{35F990AA-6C74-88E9-6329-2C9A089A3031}"/>
                  </a:ext>
                </a:extLst>
              </p:cNvPr>
              <p:cNvSpPr txBox="1"/>
              <p:nvPr/>
            </p:nvSpPr>
            <p:spPr>
              <a:xfrm>
                <a:off x="1038960" y="2607050"/>
                <a:ext cx="3110772" cy="406225"/>
              </a:xfrm>
              <a:prstGeom prst="rect">
                <a:avLst/>
              </a:prstGeom>
              <a:noFill/>
            </p:spPr>
            <p:txBody>
              <a:bodyPr wrap="square">
                <a:spAutoFit/>
              </a:bodyPr>
              <a:lstStyle/>
              <a:p>
                <a:pPr algn="ctr"/>
                <a:r>
                  <a:rPr lang="en-US" altLang="zh-TW" dirty="0"/>
                  <a:t>Batch: CPC004_A375_6H </a:t>
                </a:r>
                <a:endParaRPr lang="zh-TW" altLang="en-US" dirty="0"/>
              </a:p>
            </p:txBody>
          </p:sp>
        </p:grpSp>
      </p:grpSp>
      <p:sp>
        <p:nvSpPr>
          <p:cNvPr id="4" name="文字方塊 3">
            <a:extLst>
              <a:ext uri="{FF2B5EF4-FFF2-40B4-BE49-F238E27FC236}">
                <a16:creationId xmlns:a16="http://schemas.microsoft.com/office/drawing/2014/main" id="{BD59AF89-1F8E-3992-3A78-52F67800100B}"/>
              </a:ext>
            </a:extLst>
          </p:cNvPr>
          <p:cNvSpPr txBox="1"/>
          <p:nvPr/>
        </p:nvSpPr>
        <p:spPr>
          <a:xfrm>
            <a:off x="268513" y="1237540"/>
            <a:ext cx="5805715"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Real Data Performance and Batch Evaluation</a:t>
            </a:r>
            <a:endParaRPr lang="zh-TW" altLang="en-US" dirty="0"/>
          </a:p>
        </p:txBody>
      </p:sp>
      <p:grpSp>
        <p:nvGrpSpPr>
          <p:cNvPr id="25" name="群組 24">
            <a:extLst>
              <a:ext uri="{FF2B5EF4-FFF2-40B4-BE49-F238E27FC236}">
                <a16:creationId xmlns:a16="http://schemas.microsoft.com/office/drawing/2014/main" id="{011B7BC3-4DF9-DF7B-D79E-4C6B5136C1EC}"/>
              </a:ext>
            </a:extLst>
          </p:cNvPr>
          <p:cNvGrpSpPr/>
          <p:nvPr/>
        </p:nvGrpSpPr>
        <p:grpSpPr>
          <a:xfrm>
            <a:off x="572633" y="4068534"/>
            <a:ext cx="5340605" cy="2119770"/>
            <a:chOff x="1040023" y="4214075"/>
            <a:chExt cx="5874077" cy="2331513"/>
          </a:xfrm>
        </p:grpSpPr>
        <p:pic>
          <p:nvPicPr>
            <p:cNvPr id="11" name="圖片 10">
              <a:extLst>
                <a:ext uri="{FF2B5EF4-FFF2-40B4-BE49-F238E27FC236}">
                  <a16:creationId xmlns:a16="http://schemas.microsoft.com/office/drawing/2014/main" id="{39B68E68-0957-4992-5FE5-43C50C687832}"/>
                </a:ext>
              </a:extLst>
            </p:cNvPr>
            <p:cNvPicPr>
              <a:picLocks noChangeAspect="1"/>
            </p:cNvPicPr>
            <p:nvPr/>
          </p:nvPicPr>
          <p:blipFill>
            <a:blip r:embed="rId5"/>
            <a:stretch>
              <a:fillRect/>
            </a:stretch>
          </p:blipFill>
          <p:spPr>
            <a:xfrm>
              <a:off x="3953454" y="4223012"/>
              <a:ext cx="2960646" cy="2322576"/>
            </a:xfrm>
            <a:prstGeom prst="rect">
              <a:avLst/>
            </a:prstGeom>
          </p:spPr>
        </p:pic>
        <p:pic>
          <p:nvPicPr>
            <p:cNvPr id="20" name="圖片 19">
              <a:extLst>
                <a:ext uri="{FF2B5EF4-FFF2-40B4-BE49-F238E27FC236}">
                  <a16:creationId xmlns:a16="http://schemas.microsoft.com/office/drawing/2014/main" id="{59B4EC73-D390-4FE3-A77D-4A7D46DB8D0C}"/>
                </a:ext>
              </a:extLst>
            </p:cNvPr>
            <p:cNvPicPr>
              <a:picLocks noChangeAspect="1"/>
            </p:cNvPicPr>
            <p:nvPr/>
          </p:nvPicPr>
          <p:blipFill>
            <a:blip r:embed="rId6"/>
            <a:stretch>
              <a:fillRect/>
            </a:stretch>
          </p:blipFill>
          <p:spPr>
            <a:xfrm>
              <a:off x="1040023" y="4214075"/>
              <a:ext cx="2960646" cy="2322576"/>
            </a:xfrm>
            <a:prstGeom prst="rect">
              <a:avLst/>
            </a:prstGeom>
          </p:spPr>
        </p:pic>
      </p:grpSp>
      <p:sp>
        <p:nvSpPr>
          <p:cNvPr id="19" name="文字方塊 18">
            <a:extLst>
              <a:ext uri="{FF2B5EF4-FFF2-40B4-BE49-F238E27FC236}">
                <a16:creationId xmlns:a16="http://schemas.microsoft.com/office/drawing/2014/main" id="{BBFEA3B9-8708-1B8C-8389-DCD3712BE524}"/>
              </a:ext>
            </a:extLst>
          </p:cNvPr>
          <p:cNvSpPr txBox="1"/>
          <p:nvPr/>
        </p:nvSpPr>
        <p:spPr>
          <a:xfrm>
            <a:off x="1359707" y="4225495"/>
            <a:ext cx="4328126" cy="369332"/>
          </a:xfrm>
          <a:prstGeom prst="rect">
            <a:avLst/>
          </a:prstGeom>
          <a:noFill/>
        </p:spPr>
        <p:txBody>
          <a:bodyPr wrap="square">
            <a:spAutoFit/>
          </a:bodyPr>
          <a:lstStyle/>
          <a:p>
            <a:pPr algn="ctr"/>
            <a:r>
              <a:rPr lang="en-US" altLang="zh-TW" dirty="0"/>
              <a:t>Batch: CPC006_RKO_6H</a:t>
            </a:r>
            <a:r>
              <a:rPr lang="zh-TW" altLang="en-US" dirty="0"/>
              <a:t> </a:t>
            </a:r>
          </a:p>
        </p:txBody>
      </p:sp>
      <p:sp>
        <p:nvSpPr>
          <p:cNvPr id="24" name="文字方塊 23">
            <a:extLst>
              <a:ext uri="{FF2B5EF4-FFF2-40B4-BE49-F238E27FC236}">
                <a16:creationId xmlns:a16="http://schemas.microsoft.com/office/drawing/2014/main" id="{ABB480A4-1790-55F6-1F05-2976372F6C5C}"/>
              </a:ext>
            </a:extLst>
          </p:cNvPr>
          <p:cNvSpPr txBox="1"/>
          <p:nvPr/>
        </p:nvSpPr>
        <p:spPr>
          <a:xfrm>
            <a:off x="6847646" y="2209209"/>
            <a:ext cx="1596654" cy="369332"/>
          </a:xfrm>
          <a:prstGeom prst="rect">
            <a:avLst/>
          </a:prstGeom>
          <a:noFill/>
        </p:spPr>
        <p:txBody>
          <a:bodyPr wrap="square">
            <a:spAutoFit/>
          </a:bodyPr>
          <a:lstStyle/>
          <a:p>
            <a:r>
              <a:rPr lang="en-US" altLang="zh-TW" sz="1800" dirty="0"/>
              <a:t>LINCS (L1000)</a:t>
            </a:r>
            <a:endParaRPr lang="zh-TW" altLang="en-US" dirty="0"/>
          </a:p>
        </p:txBody>
      </p:sp>
      <p:sp>
        <p:nvSpPr>
          <p:cNvPr id="28" name="文字方塊 27">
            <a:extLst>
              <a:ext uri="{FF2B5EF4-FFF2-40B4-BE49-F238E27FC236}">
                <a16:creationId xmlns:a16="http://schemas.microsoft.com/office/drawing/2014/main" id="{19CD1D4B-2AAA-1A67-269E-1899D284C26F}"/>
              </a:ext>
            </a:extLst>
          </p:cNvPr>
          <p:cNvSpPr txBox="1"/>
          <p:nvPr/>
        </p:nvSpPr>
        <p:spPr>
          <a:xfrm>
            <a:off x="6136075" y="4708857"/>
            <a:ext cx="2880764" cy="830997"/>
          </a:xfrm>
          <a:prstGeom prst="rect">
            <a:avLst/>
          </a:prstGeom>
          <a:noFill/>
        </p:spPr>
        <p:txBody>
          <a:bodyPr wrap="square">
            <a:spAutoFit/>
          </a:bodyPr>
          <a:lstStyle/>
          <a:p>
            <a:pPr algn="ctr"/>
            <a:r>
              <a:rPr lang="en-US" altLang="zh-TW" sz="1200" dirty="0"/>
              <a:t>Sample Size: 20</a:t>
            </a:r>
            <a:r>
              <a:rPr lang="zh-TW" altLang="en-US" sz="1200" dirty="0"/>
              <a:t> </a:t>
            </a:r>
            <a:r>
              <a:rPr lang="en-US" altLang="zh-TW" sz="1200" dirty="0"/>
              <a:t>(Cases: 2), </a:t>
            </a:r>
          </a:p>
          <a:p>
            <a:pPr algn="ctr"/>
            <a:r>
              <a:rPr lang="en-US" altLang="zh-TW" sz="1200" dirty="0"/>
              <a:t>Total Gene Size: 11833,</a:t>
            </a:r>
          </a:p>
          <a:p>
            <a:pPr algn="ctr"/>
            <a:r>
              <a:rPr lang="en-US" altLang="zh-TW" sz="1200" dirty="0"/>
              <a:t>Target Gene Set Size: 1263, </a:t>
            </a:r>
          </a:p>
          <a:p>
            <a:pPr algn="ctr"/>
            <a:r>
              <a:rPr lang="en-US" altLang="zh-TW" sz="1200" dirty="0"/>
              <a:t>Non-target Gene Set Size: 10570</a:t>
            </a:r>
            <a:endParaRPr lang="zh-TW" altLang="en-US" sz="1200" dirty="0"/>
          </a:p>
        </p:txBody>
      </p:sp>
      <p:sp>
        <p:nvSpPr>
          <p:cNvPr id="30" name="文字方塊 29">
            <a:extLst>
              <a:ext uri="{FF2B5EF4-FFF2-40B4-BE49-F238E27FC236}">
                <a16:creationId xmlns:a16="http://schemas.microsoft.com/office/drawing/2014/main" id="{7FA644E6-64C3-F3D1-0714-3075AD58A133}"/>
              </a:ext>
            </a:extLst>
          </p:cNvPr>
          <p:cNvSpPr txBox="1"/>
          <p:nvPr/>
        </p:nvSpPr>
        <p:spPr>
          <a:xfrm>
            <a:off x="6847646" y="4339525"/>
            <a:ext cx="1596654" cy="369332"/>
          </a:xfrm>
          <a:prstGeom prst="rect">
            <a:avLst/>
          </a:prstGeom>
          <a:noFill/>
        </p:spPr>
        <p:txBody>
          <a:bodyPr wrap="square">
            <a:spAutoFit/>
          </a:bodyPr>
          <a:lstStyle/>
          <a:p>
            <a:r>
              <a:rPr lang="en-US" altLang="zh-TW" sz="1800" dirty="0"/>
              <a:t>LINCS (L1000)</a:t>
            </a:r>
            <a:endParaRPr lang="zh-TW" altLang="en-US" dirty="0"/>
          </a:p>
        </p:txBody>
      </p:sp>
    </p:spTree>
    <p:extLst>
      <p:ext uri="{BB962C8B-B14F-4D97-AF65-F5344CB8AC3E}">
        <p14:creationId xmlns:p14="http://schemas.microsoft.com/office/powerpoint/2010/main" val="4039592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4B82E-9F94-C988-12A4-449C6ED72ED3}"/>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3F8A7D97-4FCF-9815-A2C8-8EE409E69515}"/>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0DCB72EF-27F5-8A66-26EC-BA86239BAC8F}"/>
              </a:ext>
            </a:extLst>
          </p:cNvPr>
          <p:cNvSpPr>
            <a:spLocks noGrp="1"/>
          </p:cNvSpPr>
          <p:nvPr>
            <p:ph type="title"/>
          </p:nvPr>
        </p:nvSpPr>
        <p:spPr>
          <a:xfrm>
            <a:off x="457200" y="230188"/>
            <a:ext cx="5194300" cy="849312"/>
          </a:xfrm>
        </p:spPr>
        <p:txBody>
          <a:bodyPr/>
          <a:lstStyle/>
          <a:p>
            <a:r>
              <a:rPr lang="en-US" altLang="zh-TW" dirty="0" err="1"/>
              <a:t>PerturbVerse</a:t>
            </a:r>
            <a:endParaRPr lang="zh-TW" altLang="en-US" dirty="0"/>
          </a:p>
        </p:txBody>
      </p:sp>
      <p:sp>
        <p:nvSpPr>
          <p:cNvPr id="2" name="矩形 1">
            <a:extLst>
              <a:ext uri="{FF2B5EF4-FFF2-40B4-BE49-F238E27FC236}">
                <a16:creationId xmlns:a16="http://schemas.microsoft.com/office/drawing/2014/main" id="{4AA4DCBB-C8E8-0E39-1B8A-3F20BEEC71E3}"/>
              </a:ext>
            </a:extLst>
          </p:cNvPr>
          <p:cNvSpPr/>
          <p:nvPr/>
        </p:nvSpPr>
        <p:spPr>
          <a:xfrm>
            <a:off x="431633" y="90420"/>
            <a:ext cx="2976880" cy="309883"/>
          </a:xfrm>
          <a:prstGeom prst="rect">
            <a:avLst/>
          </a:prstGeom>
          <a:solidFill>
            <a:srgbClr val="FFFFFF">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5E276E2F-9430-D3BC-68BF-A0775491FB0E}"/>
              </a:ext>
            </a:extLst>
          </p:cNvPr>
          <p:cNvSpPr>
            <a:spLocks noGrp="1"/>
          </p:cNvSpPr>
          <p:nvPr>
            <p:ph type="sldNum" sz="quarter" idx="4"/>
          </p:nvPr>
        </p:nvSpPr>
        <p:spPr/>
        <p:txBody>
          <a:bodyPr/>
          <a:lstStyle/>
          <a:p>
            <a:fld id="{73DA0BB7-265A-403C-9275-D587AB510EDC}" type="slidenum">
              <a:rPr lang="zh-TW" altLang="en-US" smtClean="0"/>
              <a:pPr/>
              <a:t>14</a:t>
            </a:fld>
            <a:endParaRPr lang="zh-TW" altLang="en-US" dirty="0"/>
          </a:p>
        </p:txBody>
      </p:sp>
      <p:sp>
        <p:nvSpPr>
          <p:cNvPr id="21" name="頁尾版面配置區 3">
            <a:extLst>
              <a:ext uri="{FF2B5EF4-FFF2-40B4-BE49-F238E27FC236}">
                <a16:creationId xmlns:a16="http://schemas.microsoft.com/office/drawing/2014/main" id="{93022530-0F05-61D3-097C-FA8E7107F0E1}"/>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sp>
        <p:nvSpPr>
          <p:cNvPr id="8" name="文字方塊 7">
            <a:extLst>
              <a:ext uri="{FF2B5EF4-FFF2-40B4-BE49-F238E27FC236}">
                <a16:creationId xmlns:a16="http://schemas.microsoft.com/office/drawing/2014/main" id="{112CC299-F3C3-711A-820C-1C08D37A7DF1}"/>
              </a:ext>
            </a:extLst>
          </p:cNvPr>
          <p:cNvSpPr txBox="1"/>
          <p:nvPr/>
        </p:nvSpPr>
        <p:spPr>
          <a:xfrm>
            <a:off x="268513" y="1237540"/>
            <a:ext cx="5805715"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Real Data Performance</a:t>
            </a:r>
            <a:r>
              <a:rPr lang="en-US" altLang="zh-TW" dirty="0"/>
              <a:t> and Batch Evaluation</a:t>
            </a:r>
            <a:endParaRPr lang="zh-TW" altLang="en-US" dirty="0"/>
          </a:p>
        </p:txBody>
      </p:sp>
      <p:grpSp>
        <p:nvGrpSpPr>
          <p:cNvPr id="14" name="群組 13">
            <a:extLst>
              <a:ext uri="{FF2B5EF4-FFF2-40B4-BE49-F238E27FC236}">
                <a16:creationId xmlns:a16="http://schemas.microsoft.com/office/drawing/2014/main" id="{EEA776BE-DD5B-5D96-DE9E-2E6772C2DA12}"/>
              </a:ext>
            </a:extLst>
          </p:cNvPr>
          <p:cNvGrpSpPr/>
          <p:nvPr/>
        </p:nvGrpSpPr>
        <p:grpSpPr>
          <a:xfrm>
            <a:off x="81804" y="2012241"/>
            <a:ext cx="4490196" cy="4261104"/>
            <a:chOff x="3789025" y="2012241"/>
            <a:chExt cx="4490196" cy="4261104"/>
          </a:xfrm>
        </p:grpSpPr>
        <p:pic>
          <p:nvPicPr>
            <p:cNvPr id="4" name="圖片 3">
              <a:extLst>
                <a:ext uri="{FF2B5EF4-FFF2-40B4-BE49-F238E27FC236}">
                  <a16:creationId xmlns:a16="http://schemas.microsoft.com/office/drawing/2014/main" id="{203BFF1B-D237-EC86-21B8-E93FF2783470}"/>
                </a:ext>
              </a:extLst>
            </p:cNvPr>
            <p:cNvPicPr>
              <a:picLocks noChangeAspect="1"/>
            </p:cNvPicPr>
            <p:nvPr/>
          </p:nvPicPr>
          <p:blipFill>
            <a:blip r:embed="rId3"/>
            <a:stretch>
              <a:fillRect/>
            </a:stretch>
          </p:blipFill>
          <p:spPr>
            <a:xfrm>
              <a:off x="3789025" y="2012241"/>
              <a:ext cx="4490196" cy="4261104"/>
            </a:xfrm>
            <a:prstGeom prst="rect">
              <a:avLst/>
            </a:prstGeom>
          </p:spPr>
        </p:pic>
        <p:sp>
          <p:nvSpPr>
            <p:cNvPr id="13" name="文字方塊 12">
              <a:extLst>
                <a:ext uri="{FF2B5EF4-FFF2-40B4-BE49-F238E27FC236}">
                  <a16:creationId xmlns:a16="http://schemas.microsoft.com/office/drawing/2014/main" id="{41E3E317-8793-3EB7-79A7-A161E6DE43AC}"/>
                </a:ext>
              </a:extLst>
            </p:cNvPr>
            <p:cNvSpPr txBox="1"/>
            <p:nvPr/>
          </p:nvSpPr>
          <p:spPr>
            <a:xfrm>
              <a:off x="6034123" y="2778874"/>
              <a:ext cx="1378857" cy="276999"/>
            </a:xfrm>
            <a:prstGeom prst="rect">
              <a:avLst/>
            </a:prstGeom>
            <a:noFill/>
          </p:spPr>
          <p:txBody>
            <a:bodyPr wrap="square">
              <a:spAutoFit/>
            </a:bodyPr>
            <a:lstStyle/>
            <a:p>
              <a:pPr algn="ctr"/>
              <a:r>
                <a:rPr lang="en-US" altLang="zh-TW" sz="1200" dirty="0"/>
                <a:t>ES:</a:t>
              </a:r>
              <a:r>
                <a:rPr lang="zh-TW" altLang="en-US" sz="1200" dirty="0"/>
                <a:t> </a:t>
              </a:r>
              <a:r>
                <a:rPr lang="en-US" altLang="zh-TW" sz="1200" dirty="0"/>
                <a:t>-0.213295</a:t>
              </a:r>
              <a:endParaRPr lang="zh-TW" altLang="en-US" sz="1200" dirty="0"/>
            </a:p>
          </p:txBody>
        </p:sp>
      </p:grpSp>
      <p:sp>
        <p:nvSpPr>
          <p:cNvPr id="16" name="文字方塊 15">
            <a:extLst>
              <a:ext uri="{FF2B5EF4-FFF2-40B4-BE49-F238E27FC236}">
                <a16:creationId xmlns:a16="http://schemas.microsoft.com/office/drawing/2014/main" id="{2D55EBC5-0E93-FA28-6866-810723713F62}"/>
              </a:ext>
            </a:extLst>
          </p:cNvPr>
          <p:cNvSpPr txBox="1"/>
          <p:nvPr/>
        </p:nvSpPr>
        <p:spPr>
          <a:xfrm>
            <a:off x="971600" y="1642909"/>
            <a:ext cx="2692400" cy="369332"/>
          </a:xfrm>
          <a:prstGeom prst="rect">
            <a:avLst/>
          </a:prstGeom>
          <a:noFill/>
        </p:spPr>
        <p:txBody>
          <a:bodyPr wrap="square">
            <a:spAutoFit/>
          </a:bodyPr>
          <a:lstStyle/>
          <a:p>
            <a:pPr algn="ctr"/>
            <a:r>
              <a:rPr lang="en-US" altLang="zh-TW" sz="1800" dirty="0"/>
              <a:t>Batch: CPC004_A375_6H</a:t>
            </a:r>
            <a:endParaRPr lang="zh-TW" altLang="en-US" sz="1800" dirty="0"/>
          </a:p>
        </p:txBody>
      </p:sp>
      <p:sp>
        <p:nvSpPr>
          <p:cNvPr id="18" name="文字方塊 17">
            <a:extLst>
              <a:ext uri="{FF2B5EF4-FFF2-40B4-BE49-F238E27FC236}">
                <a16:creationId xmlns:a16="http://schemas.microsoft.com/office/drawing/2014/main" id="{4A14A530-2335-9986-A323-DB602FE16EF5}"/>
              </a:ext>
            </a:extLst>
          </p:cNvPr>
          <p:cNvSpPr txBox="1"/>
          <p:nvPr/>
        </p:nvSpPr>
        <p:spPr>
          <a:xfrm>
            <a:off x="5845726" y="1642909"/>
            <a:ext cx="2547257" cy="369332"/>
          </a:xfrm>
          <a:prstGeom prst="rect">
            <a:avLst/>
          </a:prstGeom>
          <a:noFill/>
        </p:spPr>
        <p:txBody>
          <a:bodyPr wrap="square">
            <a:spAutoFit/>
          </a:bodyPr>
          <a:lstStyle/>
          <a:p>
            <a:r>
              <a:rPr lang="en-US" altLang="zh-TW" sz="1800" dirty="0"/>
              <a:t>Batch: CPC006_RKO_6H</a:t>
            </a:r>
            <a:r>
              <a:rPr lang="zh-TW" altLang="en-US" sz="1800" dirty="0"/>
              <a:t> </a:t>
            </a:r>
            <a:endParaRPr lang="zh-TW" altLang="en-US" dirty="0"/>
          </a:p>
        </p:txBody>
      </p:sp>
      <p:pic>
        <p:nvPicPr>
          <p:cNvPr id="24" name="圖片 23">
            <a:extLst>
              <a:ext uri="{FF2B5EF4-FFF2-40B4-BE49-F238E27FC236}">
                <a16:creationId xmlns:a16="http://schemas.microsoft.com/office/drawing/2014/main" id="{0591120F-7EC4-43B8-D306-6C3D30FE049E}"/>
              </a:ext>
            </a:extLst>
          </p:cNvPr>
          <p:cNvPicPr>
            <a:picLocks noChangeAspect="1"/>
          </p:cNvPicPr>
          <p:nvPr/>
        </p:nvPicPr>
        <p:blipFill>
          <a:blip r:embed="rId4"/>
          <a:stretch>
            <a:fillRect/>
          </a:stretch>
        </p:blipFill>
        <p:spPr>
          <a:xfrm>
            <a:off x="4609372" y="2016236"/>
            <a:ext cx="4490195" cy="4261104"/>
          </a:xfrm>
          <a:prstGeom prst="rect">
            <a:avLst/>
          </a:prstGeom>
        </p:spPr>
      </p:pic>
      <p:sp>
        <p:nvSpPr>
          <p:cNvPr id="26" name="文字方塊 25">
            <a:extLst>
              <a:ext uri="{FF2B5EF4-FFF2-40B4-BE49-F238E27FC236}">
                <a16:creationId xmlns:a16="http://schemas.microsoft.com/office/drawing/2014/main" id="{CF59FFF8-8991-723E-44AF-36BE4061B0C3}"/>
              </a:ext>
            </a:extLst>
          </p:cNvPr>
          <p:cNvSpPr txBox="1"/>
          <p:nvPr/>
        </p:nvSpPr>
        <p:spPr>
          <a:xfrm>
            <a:off x="6854469" y="2807901"/>
            <a:ext cx="1538514" cy="277000"/>
          </a:xfrm>
          <a:prstGeom prst="rect">
            <a:avLst/>
          </a:prstGeom>
          <a:noFill/>
        </p:spPr>
        <p:txBody>
          <a:bodyPr wrap="square">
            <a:spAutoFit/>
          </a:bodyPr>
          <a:lstStyle/>
          <a:p>
            <a:pPr algn="ctr"/>
            <a:r>
              <a:rPr lang="en-US" altLang="zh-TW" sz="1200" dirty="0"/>
              <a:t>ES:</a:t>
            </a:r>
            <a:r>
              <a:rPr lang="zh-TW" altLang="en-US" sz="1200" dirty="0"/>
              <a:t> </a:t>
            </a:r>
            <a:r>
              <a:rPr lang="en-US" altLang="zh-TW" sz="1200" dirty="0"/>
              <a:t>0.229922</a:t>
            </a:r>
            <a:endParaRPr lang="zh-TW" altLang="en-US" sz="1200" dirty="0"/>
          </a:p>
        </p:txBody>
      </p:sp>
      <p:sp>
        <p:nvSpPr>
          <p:cNvPr id="10" name="文字方塊 9">
            <a:extLst>
              <a:ext uri="{FF2B5EF4-FFF2-40B4-BE49-F238E27FC236}">
                <a16:creationId xmlns:a16="http://schemas.microsoft.com/office/drawing/2014/main" id="{1B807215-F5B3-8ECE-ADA8-46C4EBB687AF}"/>
              </a:ext>
            </a:extLst>
          </p:cNvPr>
          <p:cNvSpPr txBox="1"/>
          <p:nvPr/>
        </p:nvSpPr>
        <p:spPr>
          <a:xfrm>
            <a:off x="2722659" y="1948494"/>
            <a:ext cx="4167242" cy="369332"/>
          </a:xfrm>
          <a:prstGeom prst="rect">
            <a:avLst/>
          </a:prstGeom>
          <a:noFill/>
        </p:spPr>
        <p:txBody>
          <a:bodyPr wrap="square">
            <a:spAutoFit/>
          </a:bodyPr>
          <a:lstStyle/>
          <a:p>
            <a:pPr algn="ctr"/>
            <a:r>
              <a:rPr lang="en-US" altLang="zh-TW" dirty="0"/>
              <a:t>Gene Set Permutation (competitive)</a:t>
            </a:r>
            <a:endParaRPr lang="zh-TW" altLang="en-US" dirty="0"/>
          </a:p>
        </p:txBody>
      </p:sp>
    </p:spTree>
    <p:extLst>
      <p:ext uri="{BB962C8B-B14F-4D97-AF65-F5344CB8AC3E}">
        <p14:creationId xmlns:p14="http://schemas.microsoft.com/office/powerpoint/2010/main" val="2469342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F106-E719-E7A6-3B0B-703E5E149A2C}"/>
            </a:ext>
          </a:extLst>
        </p:cNvPr>
        <p:cNvGrpSpPr/>
        <p:nvPr/>
      </p:nvGrpSpPr>
      <p:grpSpPr>
        <a:xfrm>
          <a:off x="0" y="0"/>
          <a:ext cx="0" cy="0"/>
          <a:chOff x="0" y="0"/>
          <a:chExt cx="0" cy="0"/>
        </a:xfrm>
      </p:grpSpPr>
      <p:sp>
        <p:nvSpPr>
          <p:cNvPr id="5" name="日期版面配置區 4">
            <a:extLst>
              <a:ext uri="{FF2B5EF4-FFF2-40B4-BE49-F238E27FC236}">
                <a16:creationId xmlns:a16="http://schemas.microsoft.com/office/drawing/2014/main" id="{32391CA2-615E-E22A-6E7B-14D571202570}"/>
              </a:ext>
            </a:extLst>
          </p:cNvPr>
          <p:cNvSpPr>
            <a:spLocks noGrp="1"/>
          </p:cNvSpPr>
          <p:nvPr>
            <p:ph type="dt" sz="half" idx="2"/>
          </p:nvPr>
        </p:nvSpPr>
        <p:spPr/>
        <p:txBody>
          <a:bodyPr/>
          <a:lstStyle/>
          <a:p>
            <a:fld id="{AE8C5876-40B1-41D2-B59C-CAFD7342C27E}" type="datetime1">
              <a:rPr lang="zh-TW" altLang="en-US" smtClean="0"/>
              <a:pPr/>
              <a:t>2026/9/10</a:t>
            </a:fld>
            <a:endParaRPr lang="zh-TW" altLang="en-US" dirty="0"/>
          </a:p>
        </p:txBody>
      </p:sp>
      <p:sp>
        <p:nvSpPr>
          <p:cNvPr id="7" name="標題 1">
            <a:extLst>
              <a:ext uri="{FF2B5EF4-FFF2-40B4-BE49-F238E27FC236}">
                <a16:creationId xmlns:a16="http://schemas.microsoft.com/office/drawing/2014/main" id="{61802681-39C5-82FB-A450-0F51ECC5753B}"/>
              </a:ext>
            </a:extLst>
          </p:cNvPr>
          <p:cNvSpPr>
            <a:spLocks noGrp="1"/>
          </p:cNvSpPr>
          <p:nvPr>
            <p:ph type="title"/>
          </p:nvPr>
        </p:nvSpPr>
        <p:spPr>
          <a:xfrm>
            <a:off x="457200" y="230188"/>
            <a:ext cx="5194300" cy="849312"/>
          </a:xfrm>
        </p:spPr>
        <p:txBody>
          <a:bodyPr/>
          <a:lstStyle/>
          <a:p>
            <a:r>
              <a:rPr lang="en-US" altLang="zh-TW" dirty="0" err="1"/>
              <a:t>PerturbVerse</a:t>
            </a:r>
            <a:endParaRPr lang="zh-TW" altLang="en-US" dirty="0"/>
          </a:p>
        </p:txBody>
      </p:sp>
      <p:sp>
        <p:nvSpPr>
          <p:cNvPr id="2" name="矩形 1">
            <a:extLst>
              <a:ext uri="{FF2B5EF4-FFF2-40B4-BE49-F238E27FC236}">
                <a16:creationId xmlns:a16="http://schemas.microsoft.com/office/drawing/2014/main" id="{7822009B-9D73-4642-64BF-6B214B15ACE9}"/>
              </a:ext>
            </a:extLst>
          </p:cNvPr>
          <p:cNvSpPr/>
          <p:nvPr/>
        </p:nvSpPr>
        <p:spPr>
          <a:xfrm>
            <a:off x="431633" y="90420"/>
            <a:ext cx="2976880" cy="309883"/>
          </a:xfrm>
          <a:prstGeom prst="rect">
            <a:avLst/>
          </a:prstGeom>
          <a:solidFill>
            <a:srgbClr val="FFFFFF">
              <a:alpha val="8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a:extLst>
              <a:ext uri="{FF2B5EF4-FFF2-40B4-BE49-F238E27FC236}">
                <a16:creationId xmlns:a16="http://schemas.microsoft.com/office/drawing/2014/main" id="{E642C972-1AA1-F171-9D54-480A15678229}"/>
              </a:ext>
            </a:extLst>
          </p:cNvPr>
          <p:cNvSpPr>
            <a:spLocks noGrp="1"/>
          </p:cNvSpPr>
          <p:nvPr>
            <p:ph type="sldNum" sz="quarter" idx="4"/>
          </p:nvPr>
        </p:nvSpPr>
        <p:spPr/>
        <p:txBody>
          <a:bodyPr/>
          <a:lstStyle/>
          <a:p>
            <a:fld id="{73DA0BB7-265A-403C-9275-D587AB510EDC}" type="slidenum">
              <a:rPr lang="zh-TW" altLang="en-US" smtClean="0"/>
              <a:pPr/>
              <a:t>15</a:t>
            </a:fld>
            <a:endParaRPr lang="zh-TW" altLang="en-US" dirty="0"/>
          </a:p>
        </p:txBody>
      </p:sp>
      <p:sp>
        <p:nvSpPr>
          <p:cNvPr id="21" name="頁尾版面配置區 3">
            <a:extLst>
              <a:ext uri="{FF2B5EF4-FFF2-40B4-BE49-F238E27FC236}">
                <a16:creationId xmlns:a16="http://schemas.microsoft.com/office/drawing/2014/main" id="{E6E0B477-97F3-E106-70F2-5EB70631265A}"/>
              </a:ext>
            </a:extLst>
          </p:cNvPr>
          <p:cNvSpPr>
            <a:spLocks noGrp="1"/>
          </p:cNvSpPr>
          <p:nvPr>
            <p:ph type="ftr" sz="quarter" idx="3"/>
          </p:nvPr>
        </p:nvSpPr>
        <p:spPr>
          <a:xfrm>
            <a:off x="1043608" y="6306460"/>
            <a:ext cx="7056784" cy="548680"/>
          </a:xfrm>
        </p:spPr>
        <p:txBody>
          <a:bodyPr/>
          <a:lstStyle/>
          <a:p>
            <a:r>
              <a:rPr lang="en-US" altLang="zh-TW" dirty="0"/>
              <a:t>Centrillion Confidential</a:t>
            </a:r>
          </a:p>
          <a:p>
            <a:r>
              <a:rPr lang="en-US" altLang="zh-TW" sz="1050" dirty="0"/>
              <a:t>All copyrights and IP belong to Centrillion. For reference only and may not be copied or distributed without written permission from Centrillion. Centrillion shall not be responsible for any party’s reliance on these materials.</a:t>
            </a:r>
            <a:endParaRPr lang="zh-TW" altLang="en-US" sz="1050" dirty="0"/>
          </a:p>
        </p:txBody>
      </p:sp>
      <p:pic>
        <p:nvPicPr>
          <p:cNvPr id="8" name="圖片 7">
            <a:extLst>
              <a:ext uri="{FF2B5EF4-FFF2-40B4-BE49-F238E27FC236}">
                <a16:creationId xmlns:a16="http://schemas.microsoft.com/office/drawing/2014/main" id="{4FCD0D27-0F56-128A-58EC-715968E788C5}"/>
              </a:ext>
            </a:extLst>
          </p:cNvPr>
          <p:cNvPicPr>
            <a:picLocks noChangeAspect="1"/>
          </p:cNvPicPr>
          <p:nvPr/>
        </p:nvPicPr>
        <p:blipFill>
          <a:blip r:embed="rId3"/>
          <a:stretch>
            <a:fillRect/>
          </a:stretch>
        </p:blipFill>
        <p:spPr>
          <a:xfrm>
            <a:off x="431633" y="1841297"/>
            <a:ext cx="5216241" cy="4465163"/>
          </a:xfrm>
          <a:prstGeom prst="rect">
            <a:avLst/>
          </a:prstGeom>
        </p:spPr>
      </p:pic>
      <p:sp>
        <p:nvSpPr>
          <p:cNvPr id="15" name="文字方塊 14">
            <a:extLst>
              <a:ext uri="{FF2B5EF4-FFF2-40B4-BE49-F238E27FC236}">
                <a16:creationId xmlns:a16="http://schemas.microsoft.com/office/drawing/2014/main" id="{91F7C13A-D7BB-126F-F7A2-4F9E28A7E682}"/>
              </a:ext>
            </a:extLst>
          </p:cNvPr>
          <p:cNvSpPr txBox="1"/>
          <p:nvPr/>
        </p:nvSpPr>
        <p:spPr>
          <a:xfrm>
            <a:off x="5740081" y="3465512"/>
            <a:ext cx="3403919" cy="752770"/>
          </a:xfrm>
          <a:prstGeom prst="rect">
            <a:avLst/>
          </a:prstGeom>
          <a:noFill/>
        </p:spPr>
        <p:txBody>
          <a:bodyPr wrap="square">
            <a:spAutoFit/>
          </a:bodyPr>
          <a:lstStyle/>
          <a:p>
            <a:pPr algn="ctr">
              <a:lnSpc>
                <a:spcPts val="1650"/>
              </a:lnSpc>
              <a:buNone/>
            </a:pPr>
            <a:r>
              <a:rPr lang="en-US" altLang="zh-TW" dirty="0"/>
              <a:t>All Batches Average</a:t>
            </a:r>
          </a:p>
          <a:p>
            <a:pPr algn="ctr">
              <a:lnSpc>
                <a:spcPts val="1650"/>
              </a:lnSpc>
              <a:buNone/>
            </a:pPr>
            <a:endParaRPr lang="en-US" altLang="zh-TW" dirty="0"/>
          </a:p>
          <a:p>
            <a:pPr algn="ctr">
              <a:lnSpc>
                <a:spcPts val="1650"/>
              </a:lnSpc>
              <a:buNone/>
            </a:pPr>
            <a:r>
              <a:rPr lang="en-US" altLang="zh-TW" dirty="0"/>
              <a:t>Control: </a:t>
            </a:r>
            <a:r>
              <a:rPr lang="en-US" altLang="zh-TW" b="0" dirty="0">
                <a:effectLst/>
              </a:rPr>
              <a:t>Only </a:t>
            </a:r>
            <a:r>
              <a:rPr lang="en-US" altLang="zh-TW" b="0" dirty="0" err="1">
                <a:effectLst/>
              </a:rPr>
              <a:t>ctl_vehicle</a:t>
            </a:r>
            <a:r>
              <a:rPr lang="en-US" altLang="zh-TW" b="0" dirty="0">
                <a:effectLst/>
              </a:rPr>
              <a:t> (DMSO)</a:t>
            </a:r>
          </a:p>
        </p:txBody>
      </p:sp>
      <p:sp>
        <p:nvSpPr>
          <p:cNvPr id="10" name="橢圓 9">
            <a:extLst>
              <a:ext uri="{FF2B5EF4-FFF2-40B4-BE49-F238E27FC236}">
                <a16:creationId xmlns:a16="http://schemas.microsoft.com/office/drawing/2014/main" id="{A05EEA2C-9079-5B75-BA3C-2005C7844667}"/>
              </a:ext>
            </a:extLst>
          </p:cNvPr>
          <p:cNvSpPr/>
          <p:nvPr/>
        </p:nvSpPr>
        <p:spPr>
          <a:xfrm>
            <a:off x="2161951" y="2835134"/>
            <a:ext cx="914401" cy="1006763"/>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29755904-3F07-107E-97AF-E8A741B16D19}"/>
              </a:ext>
            </a:extLst>
          </p:cNvPr>
          <p:cNvSpPr txBox="1"/>
          <p:nvPr/>
        </p:nvSpPr>
        <p:spPr>
          <a:xfrm>
            <a:off x="268513" y="1237540"/>
            <a:ext cx="5805715" cy="369332"/>
          </a:xfrm>
          <a:prstGeom prst="rect">
            <a:avLst/>
          </a:prstGeom>
          <a:noFill/>
        </p:spPr>
        <p:txBody>
          <a:bodyPr wrap="square">
            <a:spAutoFit/>
          </a:bodyPr>
          <a:lstStyle/>
          <a:p>
            <a:pPr marL="285750" indent="-285750">
              <a:buFont typeface="Arial" panose="020B0604020202020204" pitchFamily="34" charset="0"/>
              <a:buChar char="•"/>
            </a:pPr>
            <a:r>
              <a:rPr lang="en-US" altLang="zh-TW" sz="1800" dirty="0"/>
              <a:t>Real Data Performance</a:t>
            </a:r>
            <a:r>
              <a:rPr lang="en-US" altLang="zh-TW" dirty="0"/>
              <a:t> and Batch Evaluation</a:t>
            </a:r>
            <a:endParaRPr lang="zh-TW" altLang="en-US" dirty="0"/>
          </a:p>
        </p:txBody>
      </p:sp>
    </p:spTree>
    <p:extLst>
      <p:ext uri="{BB962C8B-B14F-4D97-AF65-F5344CB8AC3E}">
        <p14:creationId xmlns:p14="http://schemas.microsoft.com/office/powerpoint/2010/main" val="389519411"/>
      </p:ext>
    </p:extLst>
  </p:cSld>
  <p:clrMapOvr>
    <a:masterClrMapping/>
  </p:clrMapOvr>
</p:sld>
</file>

<file path=ppt/theme/theme1.xml><?xml version="1.0" encoding="utf-8"?>
<a:theme xmlns:a="http://schemas.openxmlformats.org/drawingml/2006/main" name="Centrill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entrillion" id="{C093A652-A474-47A1-8305-C1249D5AF72A}" vid="{9F5857DE-2B0D-42B5-8C46-1535A428E30B}"/>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782959</TotalTime>
  <Words>761</Words>
  <Application>Microsoft Office PowerPoint</Application>
  <PresentationFormat>如螢幕大小 (4:3)</PresentationFormat>
  <Paragraphs>117</Paragraphs>
  <Slides>15</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Arial</vt:lpstr>
      <vt:lpstr>Calibri</vt:lpstr>
      <vt:lpstr>Cambria Math</vt:lpstr>
      <vt:lpstr>Centrillion</vt:lpstr>
      <vt:lpstr>Reference (5)</vt:lpstr>
      <vt:lpstr>Chip Image Gridding – Signal Intensity Extraction, Collection, and Correction Software</vt:lpstr>
      <vt:lpstr>Chip Image Gridding</vt:lpstr>
      <vt:lpstr>Chip Image Gridding</vt:lpstr>
      <vt:lpstr>Chip Image Gridding</vt:lpstr>
      <vt:lpstr>Chip Image Gridding</vt:lpstr>
      <vt:lpstr>PerturbVerse – Perturbation-Conditioned Profiles and Epigenome Prediction Evaluation</vt:lpstr>
      <vt:lpstr>PerturbVerse</vt:lpstr>
      <vt:lpstr>PerturbVerse</vt:lpstr>
      <vt:lpstr>PerturbVerse</vt:lpstr>
      <vt:lpstr>PerturbVerse</vt:lpstr>
      <vt:lpstr>PerturbVerse</vt:lpstr>
      <vt:lpstr>PerturbVerse</vt:lpstr>
      <vt:lpstr>PerturbVerse</vt:lpstr>
      <vt:lpstr>PerturbVerse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Jeff Ho (何奇軒)</dc:creator>
  <cp:lastModifiedBy>Jeff Ho(何奇軒)</cp:lastModifiedBy>
  <cp:revision>2611</cp:revision>
  <dcterms:created xsi:type="dcterms:W3CDTF">2020-12-11T02:23:44Z</dcterms:created>
  <dcterms:modified xsi:type="dcterms:W3CDTF">2026-09-10T15:39:23Z</dcterms:modified>
</cp:coreProperties>
</file>